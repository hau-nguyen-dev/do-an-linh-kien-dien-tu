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005840"/>
            <a:ext cx="10058400" cy="3367589"/>
          </a:xfrm>
          <a:prstGeom prst="rect">
            <a:avLst/>
          </a:prstGeom>
          <a:noFill/>
        </p:spPr>
        <p:txBody>
          <a:bodyPr wrap="square">
            <a:spAutoFit/>
          </a:bodyPr>
          <a:lstStyle/>
          <a:p>
            <a:pPr>
              <a:defRPr sz="1300" b="1">
                <a:solidFill>
                  <a:srgbClr val="78C3F0"/>
                </a:solidFill>
              </a:defRPr>
            </a:pPr>
            <a:r>
              <a:rPr dirty="0"/>
              <a:t>ĐẠI HỌC HUẾ — KHOA KỸ THUẬT VÀ CÔNG NGHỆ</a:t>
            </a:r>
          </a:p>
          <a:p>
            <a:pPr>
              <a:spcBef>
                <a:spcPts val="400"/>
              </a:spcBef>
              <a:defRPr sz="1600" b="1">
                <a:solidFill>
                  <a:srgbClr val="FFFFFF"/>
                </a:solidFill>
              </a:defRPr>
            </a:pPr>
            <a:r>
              <a:rPr dirty="0"/>
              <a:t>CÁC CHỦ ĐỀ NÂNG CAO VỀ HỆ THỐNG KINH DOANH ĐIỆN TỬ</a:t>
            </a:r>
          </a:p>
          <a:p>
            <a:pPr>
              <a:spcBef>
                <a:spcPts val="1200"/>
              </a:spcBef>
              <a:defRPr sz="2500" b="1">
                <a:solidFill>
                  <a:srgbClr val="00C8FF"/>
                </a:solidFill>
              </a:defRPr>
            </a:pPr>
            <a:r>
              <a:rPr dirty="0"/>
              <a:t>NGHIÊN CỨU, PHÂN TÍCH VÀ PHÁT TRIỂN</a:t>
            </a:r>
            <a:br>
              <a:rPr dirty="0"/>
            </a:br>
            <a:r>
              <a:rPr dirty="0"/>
              <a:t>HỆ THỐNG THƯƠNG MẠI BÁN LINH KIỆN ĐIỆN TỬ "NÉT."</a:t>
            </a:r>
          </a:p>
          <a:p>
            <a:pPr>
              <a:spcBef>
                <a:spcPts val="600"/>
              </a:spcBef>
              <a:defRPr sz="1250" i="1">
                <a:solidFill>
                  <a:srgbClr val="C8D7E6"/>
                </a:solidFill>
              </a:defRPr>
            </a:pPr>
            <a:r>
              <a:rPr dirty="0" err="1"/>
              <a:t>Phiên</a:t>
            </a:r>
            <a:r>
              <a:rPr dirty="0"/>
              <a:t> </a:t>
            </a:r>
            <a:r>
              <a:rPr dirty="0" err="1"/>
              <a:t>bản</a:t>
            </a:r>
            <a:r>
              <a:rPr dirty="0"/>
              <a:t> MVP — Phương </a:t>
            </a:r>
            <a:r>
              <a:rPr dirty="0" err="1"/>
              <a:t>pháp</a:t>
            </a:r>
            <a:r>
              <a:rPr dirty="0"/>
              <a:t> </a:t>
            </a:r>
            <a:r>
              <a:rPr dirty="0" err="1"/>
              <a:t>luận</a:t>
            </a:r>
            <a:r>
              <a:rPr dirty="0"/>
              <a:t>: Figma UI/UX &amp; Antigravity Vibe Coding — </a:t>
            </a:r>
            <a:r>
              <a:rPr dirty="0" err="1"/>
              <a:t>Lớp</a:t>
            </a:r>
            <a:r>
              <a:rPr dirty="0"/>
              <a:t> KHD5 (HK1 2026-2027)</a:t>
            </a:r>
          </a:p>
          <a:p>
            <a:pPr>
              <a:spcBef>
                <a:spcPts val="1600"/>
              </a:spcBef>
              <a:defRPr sz="1300" b="1">
                <a:solidFill>
                  <a:srgbClr val="FFFFFF"/>
                </a:solidFill>
              </a:defRPr>
            </a:pPr>
            <a:r>
              <a:rPr dirty="0" err="1"/>
              <a:t>Giảng</a:t>
            </a:r>
            <a:r>
              <a:rPr dirty="0"/>
              <a:t> </a:t>
            </a:r>
            <a:r>
              <a:rPr dirty="0" err="1"/>
              <a:t>viên</a:t>
            </a:r>
            <a:r>
              <a:rPr dirty="0"/>
              <a:t> </a:t>
            </a:r>
            <a:r>
              <a:rPr dirty="0" err="1"/>
              <a:t>hướng</a:t>
            </a:r>
            <a:r>
              <a:rPr dirty="0"/>
              <a:t> </a:t>
            </a:r>
            <a:r>
              <a:rPr dirty="0" err="1"/>
              <a:t>dẫn</a:t>
            </a:r>
            <a:r>
              <a:rPr dirty="0"/>
              <a:t>: Phạm Trung Đức</a:t>
            </a:r>
          </a:p>
          <a:p>
            <a:pPr>
              <a:spcBef>
                <a:spcPts val="400"/>
              </a:spcBef>
            </a:pPr>
            <a:r>
              <a:rPr sz="1200" b="1" dirty="0">
                <a:solidFill>
                  <a:srgbClr val="FFFFFF"/>
                </a:solidFill>
              </a:rPr>
              <a:t>Sinh </a:t>
            </a:r>
            <a:r>
              <a:rPr sz="1200" b="1" dirty="0" err="1">
                <a:solidFill>
                  <a:srgbClr val="FFFFFF"/>
                </a:solidFill>
              </a:rPr>
              <a:t>viên</a:t>
            </a:r>
            <a:r>
              <a:rPr sz="1200" b="1" dirty="0">
                <a:solidFill>
                  <a:srgbClr val="FFFFFF"/>
                </a:solidFill>
              </a:rPr>
              <a:t> </a:t>
            </a:r>
            <a:r>
              <a:rPr sz="1200" b="1" dirty="0" err="1">
                <a:solidFill>
                  <a:srgbClr val="FFFFFF"/>
                </a:solidFill>
              </a:rPr>
              <a:t>thực</a:t>
            </a:r>
            <a:r>
              <a:rPr sz="1200" b="1" dirty="0">
                <a:solidFill>
                  <a:srgbClr val="FFFFFF"/>
                </a:solidFill>
              </a:rPr>
              <a:t> </a:t>
            </a:r>
            <a:r>
              <a:rPr sz="1200" b="1" dirty="0" err="1">
                <a:solidFill>
                  <a:srgbClr val="FFFFFF"/>
                </a:solidFill>
              </a:rPr>
              <a:t>hiện</a:t>
            </a:r>
            <a:r>
              <a:rPr sz="1200" b="1" dirty="0">
                <a:solidFill>
                  <a:srgbClr val="FFFFFF"/>
                </a:solidFill>
              </a:rPr>
              <a:t> (</a:t>
            </a:r>
            <a:r>
              <a:rPr sz="1200" b="1" dirty="0" err="1">
                <a:solidFill>
                  <a:srgbClr val="FFFFFF"/>
                </a:solidFill>
              </a:rPr>
              <a:t>Nhóm</a:t>
            </a:r>
            <a:r>
              <a:rPr sz="1200" b="1" dirty="0">
                <a:solidFill>
                  <a:srgbClr val="FFFFFF"/>
                </a:solidFill>
              </a:rPr>
              <a:t> 4 </a:t>
            </a:r>
            <a:r>
              <a:rPr sz="1200" b="1" dirty="0" err="1">
                <a:solidFill>
                  <a:srgbClr val="FFFFFF"/>
                </a:solidFill>
              </a:rPr>
              <a:t>thành</a:t>
            </a:r>
            <a:r>
              <a:rPr sz="1200" b="1" dirty="0">
                <a:solidFill>
                  <a:srgbClr val="FFFFFF"/>
                </a:solidFill>
              </a:rPr>
              <a:t> </a:t>
            </a:r>
            <a:r>
              <a:rPr sz="1200" b="1" dirty="0" err="1">
                <a:solidFill>
                  <a:srgbClr val="FFFFFF"/>
                </a:solidFill>
              </a:rPr>
              <a:t>viên</a:t>
            </a:r>
            <a:r>
              <a:rPr sz="1200" b="1" dirty="0">
                <a:solidFill>
                  <a:srgbClr val="FFFFFF"/>
                </a:solidFill>
              </a:rPr>
              <a:t>):
</a:t>
            </a:r>
            <a:r>
              <a:rPr lang="vi-VN" sz="1200" b="1" dirty="0">
                <a:solidFill>
                  <a:srgbClr val="F87171"/>
                </a:solidFill>
              </a:rPr>
              <a:t>1. Nguyễn Trần Hoài Vĩ - Nhóm trưởng – MSSV: 24E1010009</a:t>
            </a:r>
          </a:p>
          <a:p>
            <a:pPr>
              <a:spcBef>
                <a:spcPts val="400"/>
              </a:spcBef>
            </a:pPr>
            <a:r>
              <a:rPr lang="vi-VN" sz="1200" b="1" dirty="0">
                <a:solidFill>
                  <a:srgbClr val="F87171"/>
                </a:solidFill>
              </a:rPr>
              <a:t>2. Nguyễn Thanh Hậu – MSSV: 24E1020004</a:t>
            </a:r>
          </a:p>
          <a:p>
            <a:pPr>
              <a:spcBef>
                <a:spcPts val="400"/>
              </a:spcBef>
            </a:pPr>
            <a:r>
              <a:rPr lang="vi-VN" sz="1200" b="1" dirty="0">
                <a:solidFill>
                  <a:srgbClr val="F87171"/>
                </a:solidFill>
              </a:rPr>
              <a:t>3. Trần Hữu Khánh Hưng – MSSV: 24E1020006</a:t>
            </a:r>
          </a:p>
          <a:p>
            <a:pPr>
              <a:spcBef>
                <a:spcPts val="400"/>
              </a:spcBef>
            </a:pPr>
            <a:r>
              <a:rPr lang="vi-VN" sz="1200" b="1" dirty="0">
                <a:solidFill>
                  <a:srgbClr val="F87171"/>
                </a:solidFill>
              </a:rPr>
              <a:t>4. Dương Văn Trung Kiên – MSSV: 24E1010005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 Đặt Vấn Đề &amp; Tính Cấp Thiết Của Đề Tài</a:t>
            </a:r>
          </a:p>
        </p:txBody>
      </p:sp>
      <p:sp>
        <p:nvSpPr>
          <p:cNvPr id="3" name="Rounded Rectangle 2"/>
          <p:cNvSpPr/>
          <p:nvPr/>
        </p:nvSpPr>
        <p:spPr>
          <a:xfrm>
            <a:off x="731520" y="1645920"/>
            <a:ext cx="3328416"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2962656" cy="4023360"/>
          </a:xfrm>
          <a:prstGeom prst="rect">
            <a:avLst/>
          </a:prstGeom>
          <a:noFill/>
        </p:spPr>
        <p:txBody>
          <a:bodyPr wrap="square">
            <a:spAutoFit/>
          </a:bodyPr>
          <a:lstStyle/>
          <a:p>
            <a:pPr>
              <a:defRPr sz="1350" b="1">
                <a:solidFill>
                  <a:srgbClr val="0275A9"/>
                </a:solidFill>
              </a:defRPr>
            </a:pPr>
            <a:r>
              <a:t>BÙNG NỔ TMĐT CÔNG NGHỆ</a:t>
            </a:r>
          </a:p>
          <a:p>
            <a:pPr>
              <a:spcBef>
                <a:spcPts val="1000"/>
              </a:spcBef>
              <a:defRPr sz="1100">
                <a:solidFill>
                  <a:srgbClr val="141923"/>
                </a:solidFill>
              </a:defRPr>
            </a:pPr>
            <a:r>
              <a:t>• Nhu cầu mua sắm thiết bị số, linh kiện máy tính, phụ kiện công nghệ tăng vọt.</a:t>
            </a:r>
          </a:p>
          <a:p>
            <a:pPr>
              <a:spcBef>
                <a:spcPts val="1000"/>
              </a:spcBef>
              <a:defRPr sz="1100">
                <a:solidFill>
                  <a:srgbClr val="141923"/>
                </a:solidFill>
              </a:defRPr>
            </a:pPr>
            <a:r>
              <a:t>• Khách hàng đòi hỏi tìm kiếm linh kiện nhanh, lọc cấu hình chính xác.</a:t>
            </a:r>
          </a:p>
          <a:p>
            <a:pPr>
              <a:spcBef>
                <a:spcPts val="1000"/>
              </a:spcBef>
              <a:defRPr sz="1100">
                <a:solidFill>
                  <a:srgbClr val="141923"/>
                </a:solidFill>
              </a:defRPr>
            </a:pPr>
            <a:r>
              <a:t>• Xu hướng chuyển khoản mã QR ngân hàng mở (VietQR) thay thế tiền mặt COD.</a:t>
            </a:r>
          </a:p>
        </p:txBody>
      </p:sp>
      <p:sp>
        <p:nvSpPr>
          <p:cNvPr id="5" name="Rounded Rectangle 4"/>
          <p:cNvSpPr/>
          <p:nvPr/>
        </p:nvSpPr>
        <p:spPr>
          <a:xfrm>
            <a:off x="4407408" y="1645920"/>
            <a:ext cx="3328416"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90288" y="1828800"/>
            <a:ext cx="2962656" cy="4023360"/>
          </a:xfrm>
          <a:prstGeom prst="rect">
            <a:avLst/>
          </a:prstGeom>
          <a:noFill/>
        </p:spPr>
        <p:txBody>
          <a:bodyPr wrap="square">
            <a:spAutoFit/>
          </a:bodyPr>
          <a:lstStyle/>
          <a:p>
            <a:pPr>
              <a:defRPr sz="1350" b="1">
                <a:solidFill>
                  <a:srgbClr val="DC2626"/>
                </a:solidFill>
              </a:defRPr>
            </a:pPr>
            <a:r>
              <a:t>THÁCH THỨC NGHIỆP VỤ</a:t>
            </a:r>
          </a:p>
          <a:p>
            <a:pPr>
              <a:spcBef>
                <a:spcPts val="1000"/>
              </a:spcBef>
              <a:defRPr sz="1100">
                <a:solidFill>
                  <a:srgbClr val="141923"/>
                </a:solidFill>
              </a:defRPr>
            </a:pPr>
            <a:r>
              <a:t>• Ma trận biến thể phức tạp: Phân mảnh nhiều tùy chọn (RAM, SSD, Màu sắc) dễ gây lỗi tính giá.</a:t>
            </a:r>
          </a:p>
          <a:p>
            <a:pPr>
              <a:spcBef>
                <a:spcPts val="1000"/>
              </a:spcBef>
              <a:defRPr sz="1100">
                <a:solidFill>
                  <a:srgbClr val="141923"/>
                </a:solidFill>
              </a:defRPr>
            </a:pPr>
            <a:r>
              <a:t>• Nguy cơ spam đơn hàng: Kẻ xấu dùng bot gửi đơn ảo làm cạn kiệt tồn kho và tê liệt vận hành.</a:t>
            </a:r>
          </a:p>
          <a:p>
            <a:pPr>
              <a:spcBef>
                <a:spcPts val="1000"/>
              </a:spcBef>
              <a:defRPr sz="1100">
                <a:solidFill>
                  <a:srgbClr val="141923"/>
                </a:solidFill>
              </a:defRPr>
            </a:pPr>
            <a:r>
              <a:t>• Phí cổng trung gian cao (1.5% - 2.5%) là rào cản lớn với các doanh nghiệp vừa và nhỏ.</a:t>
            </a:r>
          </a:p>
        </p:txBody>
      </p:sp>
      <p:sp>
        <p:nvSpPr>
          <p:cNvPr id="7" name="Rounded Rectangle 6"/>
          <p:cNvSpPr/>
          <p:nvPr/>
        </p:nvSpPr>
        <p:spPr>
          <a:xfrm>
            <a:off x="8083296" y="1645920"/>
            <a:ext cx="3328416"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66176" y="1828800"/>
            <a:ext cx="2962656" cy="4023360"/>
          </a:xfrm>
          <a:prstGeom prst="rect">
            <a:avLst/>
          </a:prstGeom>
          <a:noFill/>
        </p:spPr>
        <p:txBody>
          <a:bodyPr wrap="square">
            <a:spAutoFit/>
          </a:bodyPr>
          <a:lstStyle/>
          <a:p>
            <a:pPr>
              <a:defRPr sz="1350" b="1">
                <a:solidFill>
                  <a:srgbClr val="0275A9"/>
                </a:solidFill>
              </a:defRPr>
            </a:pPr>
            <a:r>
              <a:t>GIẢI PHÁP ĐỀ TÀI (NÉT. STORE)</a:t>
            </a:r>
          </a:p>
          <a:p>
            <a:pPr>
              <a:spcBef>
                <a:spcPts val="1000"/>
              </a:spcBef>
              <a:defRPr sz="1100" b="1">
                <a:solidFill>
                  <a:srgbClr val="141923"/>
                </a:solidFill>
              </a:defRPr>
            </a:pPr>
            <a:r>
              <a:t>✔ Kiến trúc React 18 SPA tải tức thì, tương tác mượt mà không tải lại trang.</a:t>
            </a:r>
          </a:p>
          <a:p>
            <a:pPr>
              <a:spcBef>
                <a:spcPts val="1000"/>
              </a:spcBef>
              <a:defRPr sz="1100" b="1">
                <a:solidFill>
                  <a:srgbClr val="141923"/>
                </a:solidFill>
              </a:defRPr>
            </a:pPr>
            <a:r>
              <a:t>✔ Tích hợp chuẩn mở VietQR Napas 247: Thanh toán trực tiếp không qua trung gian.</a:t>
            </a:r>
          </a:p>
          <a:p>
            <a:pPr>
              <a:spcBef>
                <a:spcPts val="1000"/>
              </a:spcBef>
              <a:defRPr sz="1100" b="1">
                <a:solidFill>
                  <a:srgbClr val="141923"/>
                </a:solidFill>
              </a:defRPr>
            </a:pPr>
            <a:r>
              <a:t>✔ Phòng vệ chống đơn rác 2 lớp: Auth Wall frontend + Rate Limiting 15s backend.</a:t>
            </a:r>
          </a:p>
          <a:p>
            <a:pPr>
              <a:spcBef>
                <a:spcPts val="1000"/>
              </a:spcBef>
              <a:defRPr sz="1100" b="1">
                <a:solidFill>
                  <a:srgbClr val="141923"/>
                </a:solidFill>
              </a:defRPr>
            </a:pPr>
            <a:r>
              <a:t>✔ Khử lỗi toán học giá âm theo nguyên lý Single Source of Truth.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2. Mục Tiêu Nghiên Cứu &amp; Định Vị Trung Thực Về Sản Phẩm</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MỤC TIÊU HỌC THUẬT MÔN HỌC</a:t>
            </a:r>
          </a:p>
          <a:p>
            <a:pPr>
              <a:spcBef>
                <a:spcPts val="1200"/>
              </a:spcBef>
              <a:defRPr sz="1150">
                <a:solidFill>
                  <a:srgbClr val="141923"/>
                </a:solidFill>
              </a:defRPr>
            </a:pPr>
            <a:r>
              <a:t>• Nghiên cứu các chủ đề nâng cao trong kinh doanh điện tử: chuẩn thanh toán mở, an ninh phòng ngự ứng dụng web và quản trị dữ liệu nhất quán.</a:t>
            </a:r>
          </a:p>
          <a:p>
            <a:pPr>
              <a:spcBef>
                <a:spcPts val="1200"/>
              </a:spcBef>
              <a:defRPr sz="1150">
                <a:solidFill>
                  <a:srgbClr val="141923"/>
                </a:solidFill>
              </a:defRPr>
            </a:pPr>
            <a:r>
              <a:t>• Xây dựng thành công hệ sinh thái 2 phân hệ: Storefront (Khách hàng) và Store Manager (Quản trị viên).</a:t>
            </a:r>
          </a:p>
          <a:p>
            <a:pPr>
              <a:spcBef>
                <a:spcPts val="1200"/>
              </a:spcBef>
              <a:defRPr sz="1150">
                <a:solidFill>
                  <a:srgbClr val="141923"/>
                </a:solidFill>
              </a:defRPr>
            </a:pPr>
            <a:r>
              <a:t>• Áp dụng phương pháp luận kỹ nghệ phần mềm hiện đại: Thiết kế với Figma và Vibe Coding với AI Antigravity.</a:t>
            </a:r>
          </a:p>
        </p:txBody>
      </p:sp>
      <p:sp>
        <p:nvSpPr>
          <p:cNvPr id="5" name="Rounded Rectangle 4"/>
          <p:cNvSpPr/>
          <p:nvPr/>
        </p:nvSpPr>
        <p:spPr>
          <a:xfrm>
            <a:off x="6217920" y="1645920"/>
            <a:ext cx="5120640"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B2545"/>
                </a:solidFill>
              </a:defRPr>
            </a:pPr>
            <a:r>
              <a:t>ĐỊNH VỊ TRUNG THỰC VỀ SẢN PHẨM</a:t>
            </a:r>
          </a:p>
          <a:p>
            <a:pPr>
              <a:spcBef>
                <a:spcPts val="1200"/>
              </a:spcBef>
              <a:defRPr sz="1150" b="1">
                <a:solidFill>
                  <a:srgbClr val="141923"/>
                </a:solidFill>
              </a:defRPr>
            </a:pPr>
            <a:r>
              <a:t>⚠ Hệ thống đạt cấp độ: Bản thử nghiệm khả dụng tối thiểu (MVP - Minimum Viable Product) / Proof of Concept.</a:t>
            </a:r>
          </a:p>
          <a:p>
            <a:pPr>
              <a:spcBef>
                <a:spcPts val="1200"/>
              </a:spcBef>
              <a:defRPr sz="1150" b="1">
                <a:solidFill>
                  <a:srgbClr val="141923"/>
                </a:solidFill>
              </a:defRPr>
            </a:pPr>
            <a:r>
              <a:t>⚠ Chứng minh tính khả thi và đúng đắn của các giải pháp công nghệ đề ra trong môi trường thực nghiệm.</a:t>
            </a:r>
          </a:p>
          <a:p>
            <a:pPr>
              <a:spcBef>
                <a:spcPts val="1200"/>
              </a:spcBef>
              <a:defRPr sz="1150" b="1">
                <a:solidFill>
                  <a:srgbClr val="141923"/>
                </a:solidFill>
              </a:defRPr>
            </a:pPr>
            <a:r>
              <a:t>⚠ CHƯA PHẢI LÀ SẢN PHẨM PRODUCTION: Dự án chưa sẵn sàng để đưa vào kinh doanh thực tế ngoài đời.</a:t>
            </a:r>
          </a:p>
          <a:p>
            <a:pPr>
              <a:spcBef>
                <a:spcPts val="1200"/>
              </a:spcBef>
              <a:defRPr sz="1150" b="1">
                <a:solidFill>
                  <a:srgbClr val="141923"/>
                </a:solidFill>
              </a:defRPr>
            </a:pPr>
            <a:r>
              <a:t>⚠ Cần tiếp tục hoàn thiện các hạ tầng chuyên sâu: Webhook ngân hàng tự động, SMS OTP nhà mạng và hạ tầng 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3. Phương Pháp Luận Hiện Đại: Figma (Design) &amp; Vibe Coding Với Antigravity</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1. THIẾT KẾ UI/UX VỚI FIGMA</a:t>
            </a:r>
          </a:p>
          <a:p>
            <a:pPr>
              <a:spcBef>
                <a:spcPts val="1200"/>
              </a:spcBef>
              <a:defRPr sz="1150">
                <a:solidFill>
                  <a:srgbClr val="141923"/>
                </a:solidFill>
              </a:defRPr>
            </a:pPr>
            <a:r>
              <a:t>• Xây dựng Design System bài bản: Định nghĩa bảng màu thương hiệu nét. (#0275A9, #141923), typography và border radius chuẩn công nghệ.</a:t>
            </a:r>
          </a:p>
          <a:p>
            <a:pPr>
              <a:spcBef>
                <a:spcPts val="1200"/>
              </a:spcBef>
              <a:defRPr sz="1150">
                <a:solidFill>
                  <a:srgbClr val="141923"/>
                </a:solidFill>
              </a:defRPr>
            </a:pPr>
            <a:r>
              <a:t>• Thiết kế thành phần (Component-driven): Thẻ linh kiện, ngăn kéo giỏ hàng trượt, khung VietQR động và modal xác thực.</a:t>
            </a:r>
          </a:p>
          <a:p>
            <a:pPr>
              <a:spcBef>
                <a:spcPts val="1200"/>
              </a:spcBef>
              <a:defRPr sz="1150">
                <a:solidFill>
                  <a:srgbClr val="141923"/>
                </a:solidFill>
              </a:defRPr>
            </a:pPr>
            <a:r>
              <a:t>• Mô phỏng bản mẫu tương tác (Prototyping): Thử nghiệm luồng mua hàng và bố cục trước khi bước vào giai đoạn viết mã.</a:t>
            </a:r>
          </a:p>
        </p:txBody>
      </p:sp>
      <p:sp>
        <p:nvSpPr>
          <p:cNvPr id="5" name="Rounded Rectangle 4"/>
          <p:cNvSpPr/>
          <p:nvPr/>
        </p:nvSpPr>
        <p:spPr>
          <a:xfrm>
            <a:off x="6217920" y="1645920"/>
            <a:ext cx="5120640"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2. VIBE CODING VỚI GOOGLE ANTIGRAVITY</a:t>
            </a:r>
          </a:p>
          <a:p>
            <a:pPr>
              <a:spcBef>
                <a:spcPts val="1200"/>
              </a:spcBef>
              <a:defRPr sz="1150">
                <a:solidFill>
                  <a:srgbClr val="141923"/>
                </a:solidFill>
              </a:defRPr>
            </a:pPr>
            <a:r>
              <a:t>✔ Phương thức lập trình thế hệ mới: Sinh viên đóng vai trò Kiến trúc sư trưởng (Lead Architect), trợ lý AI Antigravity hỗ trợ sinh mã, tái cấu trúc và kiểm thử.</a:t>
            </a:r>
          </a:p>
          <a:p>
            <a:pPr>
              <a:spcBef>
                <a:spcPts val="1200"/>
              </a:spcBef>
              <a:defRPr sz="1150">
                <a:solidFill>
                  <a:srgbClr val="141923"/>
                </a:solidFill>
              </a:defRPr>
            </a:pPr>
            <a:r>
              <a:t>✔ Tốc độ phát triển đột phá: Hiện thực hóa fullstack SPA chỉ trong thời gian ngắn mà vẫn đảm bảo kiến trúc sạch.</a:t>
            </a:r>
          </a:p>
          <a:p>
            <a:pPr>
              <a:spcBef>
                <a:spcPts val="1200"/>
              </a:spcBef>
              <a:defRPr sz="1150">
                <a:solidFill>
                  <a:srgbClr val="141923"/>
                </a:solidFill>
              </a:defRPr>
            </a:pPr>
            <a:r>
              <a:t>✔ Vai trò con người là bắt buộc: Trực tiếp phát hiện các lỗi logic nghiệp vụ tiềm ẩn mà AI chưa tối ưu (lỗi trừ đúp giá âm biến thể, lỗi rò rỉ dữ liệu khi đổi tài khoản) để chỉ đạo AI xử lý dứt điểm.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4. Kiến Trúc Công Nghệ Hệ Thống (Fullstack Architecture)</a:t>
            </a:r>
          </a:p>
        </p:txBody>
      </p:sp>
      <p:sp>
        <p:nvSpPr>
          <p:cNvPr id="3" name="Rounded Rectangle 2"/>
          <p:cNvSpPr/>
          <p:nvPr/>
        </p:nvSpPr>
        <p:spPr>
          <a:xfrm>
            <a:off x="73152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828800"/>
            <a:ext cx="2926080" cy="4023360"/>
          </a:xfrm>
          <a:prstGeom prst="rect">
            <a:avLst/>
          </a:prstGeom>
          <a:noFill/>
        </p:spPr>
        <p:txBody>
          <a:bodyPr wrap="square">
            <a:spAutoFit/>
          </a:bodyPr>
          <a:lstStyle/>
          <a:p>
            <a:pPr>
              <a:defRPr sz="1200" b="1">
                <a:solidFill>
                  <a:srgbClr val="0275A9"/>
                </a:solidFill>
              </a:defRPr>
            </a:pPr>
            <a:r>
              <a:t>CLIENT LAYER</a:t>
            </a:r>
          </a:p>
          <a:p>
            <a:pPr>
              <a:spcBef>
                <a:spcPts val="400"/>
              </a:spcBef>
              <a:defRPr sz="1350" b="1">
                <a:solidFill>
                  <a:srgbClr val="141923"/>
                </a:solidFill>
              </a:defRPr>
            </a:pPr>
            <a:r>
              <a:t>React 18 SPA + Tailwind CSS</a:t>
            </a:r>
          </a:p>
          <a:p>
            <a:pPr>
              <a:spcBef>
                <a:spcPts val="800"/>
              </a:spcBef>
              <a:defRPr sz="1100">
                <a:solidFill>
                  <a:srgbClr val="707783"/>
                </a:solidFill>
              </a:defRPr>
            </a:pPr>
            <a:r>
              <a:t>• Trình duyệt tải một lần (Single Page App)</a:t>
            </a:r>
          </a:p>
          <a:p>
            <a:pPr>
              <a:spcBef>
                <a:spcPts val="800"/>
              </a:spcBef>
              <a:defRPr sz="1100">
                <a:solidFill>
                  <a:srgbClr val="707783"/>
                </a:solidFill>
              </a:defRPr>
            </a:pPr>
            <a:r>
              <a:t>• Client-side Routing (#/pdp, #/checkout)</a:t>
            </a:r>
          </a:p>
          <a:p>
            <a:pPr>
              <a:spcBef>
                <a:spcPts val="800"/>
              </a:spcBef>
              <a:defRPr sz="1100">
                <a:solidFill>
                  <a:srgbClr val="707783"/>
                </a:solidFill>
              </a:defRPr>
            </a:pPr>
            <a:r>
              <a:t>• Quản lý trạng thái bằng Hooks &amp; Memo</a:t>
            </a:r>
          </a:p>
          <a:p>
            <a:pPr>
              <a:spcBef>
                <a:spcPts val="800"/>
              </a:spcBef>
              <a:defRPr sz="1100">
                <a:solidFill>
                  <a:srgbClr val="707783"/>
                </a:solidFill>
              </a:defRPr>
            </a:pPr>
            <a:r>
              <a:t>• Giao diện tối ưu hóa từ bản mẫu Figma</a:t>
            </a:r>
          </a:p>
        </p:txBody>
      </p:sp>
      <p:sp>
        <p:nvSpPr>
          <p:cNvPr id="5" name="Rounded Rectangle 4"/>
          <p:cNvSpPr/>
          <p:nvPr/>
        </p:nvSpPr>
        <p:spPr>
          <a:xfrm>
            <a:off x="434340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0" y="1828800"/>
            <a:ext cx="2926080" cy="4023360"/>
          </a:xfrm>
          <a:prstGeom prst="rect">
            <a:avLst/>
          </a:prstGeom>
          <a:noFill/>
        </p:spPr>
        <p:txBody>
          <a:bodyPr wrap="square">
            <a:spAutoFit/>
          </a:bodyPr>
          <a:lstStyle/>
          <a:p>
            <a:pPr>
              <a:defRPr sz="1200" b="1">
                <a:solidFill>
                  <a:srgbClr val="0B2545"/>
                </a:solidFill>
              </a:defRPr>
            </a:pPr>
            <a:r>
              <a:t>SERVICE &amp; API LAYER</a:t>
            </a:r>
          </a:p>
          <a:p>
            <a:pPr>
              <a:spcBef>
                <a:spcPts val="400"/>
              </a:spcBef>
              <a:defRPr sz="1350" b="1">
                <a:solidFill>
                  <a:srgbClr val="141923"/>
                </a:solidFill>
              </a:defRPr>
            </a:pPr>
            <a:r>
              <a:t>Node.js + Express.js REST API</a:t>
            </a:r>
          </a:p>
          <a:p>
            <a:pPr>
              <a:spcBef>
                <a:spcPts val="800"/>
              </a:spcBef>
              <a:defRPr sz="1100">
                <a:solidFill>
                  <a:srgbClr val="707783"/>
                </a:solidFill>
              </a:defRPr>
            </a:pPr>
            <a:r>
              <a:t>• Phân tách tài nguyên RESTful chuẩn mực</a:t>
            </a:r>
          </a:p>
          <a:p>
            <a:pPr>
              <a:spcBef>
                <a:spcPts val="800"/>
              </a:spcBef>
              <a:defRPr sz="1100">
                <a:solidFill>
                  <a:srgbClr val="707783"/>
                </a:solidFill>
              </a:defRPr>
            </a:pPr>
            <a:r>
              <a:t>• Bộ lọc Rate Limiting &amp; Auth Gating</a:t>
            </a:r>
          </a:p>
          <a:p>
            <a:pPr>
              <a:spcBef>
                <a:spcPts val="800"/>
              </a:spcBef>
              <a:defRPr sz="1100">
                <a:solidFill>
                  <a:srgbClr val="707783"/>
                </a:solidFill>
              </a:defRPr>
            </a:pPr>
            <a:r>
              <a:t>• Kiểm soát lỗi toán học Single Source of Truth</a:t>
            </a:r>
          </a:p>
          <a:p>
            <a:pPr>
              <a:spcBef>
                <a:spcPts val="800"/>
              </a:spcBef>
              <a:defRPr sz="1100">
                <a:solidFill>
                  <a:srgbClr val="707783"/>
                </a:solidFill>
              </a:defRPr>
            </a:pPr>
            <a:r>
              <a:t>• Chuẩn hóa dữ liệu tương thích hai chiều</a:t>
            </a:r>
          </a:p>
        </p:txBody>
      </p:sp>
      <p:sp>
        <p:nvSpPr>
          <p:cNvPr id="7" name="Rounded Rectangle 6"/>
          <p:cNvSpPr/>
          <p:nvPr/>
        </p:nvSpPr>
        <p:spPr>
          <a:xfrm>
            <a:off x="795528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83880" y="1828800"/>
            <a:ext cx="2926080" cy="4023360"/>
          </a:xfrm>
          <a:prstGeom prst="rect">
            <a:avLst/>
          </a:prstGeom>
          <a:noFill/>
        </p:spPr>
        <p:txBody>
          <a:bodyPr wrap="square">
            <a:spAutoFit/>
          </a:bodyPr>
          <a:lstStyle/>
          <a:p>
            <a:pPr>
              <a:defRPr sz="1200" b="1">
                <a:solidFill>
                  <a:srgbClr val="0275A9"/>
                </a:solidFill>
              </a:defRPr>
            </a:pPr>
            <a:r>
              <a:t>DATA &amp; PAYMENT LAYER</a:t>
            </a:r>
          </a:p>
          <a:p>
            <a:pPr>
              <a:spcBef>
                <a:spcPts val="400"/>
              </a:spcBef>
              <a:defRPr sz="1350" b="1">
                <a:solidFill>
                  <a:srgbClr val="141923"/>
                </a:solidFill>
              </a:defRPr>
            </a:pPr>
            <a:r>
              <a:t>SQLite Database &amp; VietQR Napas</a:t>
            </a:r>
          </a:p>
          <a:p>
            <a:pPr>
              <a:spcBef>
                <a:spcPts val="800"/>
              </a:spcBef>
              <a:defRPr sz="1100">
                <a:solidFill>
                  <a:srgbClr val="707783"/>
                </a:solidFill>
              </a:defRPr>
            </a:pPr>
            <a:r>
              <a:t>• CSDL quan hệ nhúng SQLite chuẩn ACID</a:t>
            </a:r>
          </a:p>
          <a:p>
            <a:pPr>
              <a:spcBef>
                <a:spcPts val="800"/>
              </a:spcBef>
              <a:defRPr sz="1100">
                <a:solidFill>
                  <a:srgbClr val="707783"/>
                </a:solidFill>
              </a:defRPr>
            </a:pPr>
            <a:r>
              <a:t>• Chỉ mục hóa (Indexes) tăng tốc độ đọc</a:t>
            </a:r>
          </a:p>
          <a:p>
            <a:pPr>
              <a:spcBef>
                <a:spcPts val="800"/>
              </a:spcBef>
              <a:defRPr sz="1100">
                <a:solidFill>
                  <a:srgbClr val="707783"/>
                </a:solidFill>
              </a:defRPr>
            </a:pPr>
            <a:r>
              <a:t>• Tự động tích hợp VietQR sinh mã Napas 247</a:t>
            </a:r>
          </a:p>
          <a:p>
            <a:pPr>
              <a:spcBef>
                <a:spcPts val="800"/>
              </a:spcBef>
              <a:defRPr sz="1100">
                <a:solidFill>
                  <a:srgbClr val="707783"/>
                </a:solidFill>
              </a:defRPr>
            </a:pPr>
            <a:r>
              <a:t>• Lưu trữ cấu hình tài khoản ngân hàng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5. Phân Tích Nghiệp Vụ: Sơ Đồ Ca Sử Dụng (Use Case)</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PHÂN HỆ KHÁCH HÀNG (STOREFRONT)</a:t>
            </a:r>
          </a:p>
          <a:p>
            <a:pPr>
              <a:spcBef>
                <a:spcPts val="600"/>
              </a:spcBef>
              <a:defRPr sz="1100">
                <a:solidFill>
                  <a:srgbClr val="141923"/>
                </a:solidFill>
              </a:defRPr>
            </a:pPr>
            <a:r>
              <a:t>• UC01: Tìm kiếm nhanh bằng phím tắt Ctrl+K &amp; Lọc danh mục</a:t>
            </a:r>
          </a:p>
          <a:p>
            <a:pPr>
              <a:spcBef>
                <a:spcPts val="600"/>
              </a:spcBef>
              <a:defRPr sz="1100">
                <a:solidFill>
                  <a:srgbClr val="141923"/>
                </a:solidFill>
              </a:defRPr>
            </a:pPr>
            <a:r>
              <a:t>• UC02: Tùy biến ma trận biến thể linh kiện (Dung lượng, Màu sắc)</a:t>
            </a:r>
          </a:p>
          <a:p>
            <a:pPr>
              <a:spcBef>
                <a:spcPts val="600"/>
              </a:spcBef>
              <a:defRPr sz="1100">
                <a:solidFill>
                  <a:srgbClr val="141923"/>
                </a:solidFill>
              </a:defRPr>
            </a:pPr>
            <a:r>
              <a:t>• UC03: Quản lý giỏ hàng &amp; Áp dụng mã giảm giá voucher động</a:t>
            </a:r>
          </a:p>
          <a:p>
            <a:pPr>
              <a:spcBef>
                <a:spcPts val="600"/>
              </a:spcBef>
              <a:defRPr sz="1100">
                <a:solidFill>
                  <a:srgbClr val="141923"/>
                </a:solidFill>
              </a:defRPr>
            </a:pPr>
            <a:r>
              <a:t>• UC04: Đăng ký / Đăng nhập định danh thành viên</a:t>
            </a:r>
          </a:p>
          <a:p>
            <a:pPr>
              <a:spcBef>
                <a:spcPts val="600"/>
              </a:spcBef>
              <a:defRPr sz="1100">
                <a:solidFill>
                  <a:srgbClr val="141923"/>
                </a:solidFill>
              </a:defRPr>
            </a:pPr>
            <a:r>
              <a:t>• UC05: Thanh toán tự động (Auto-fill địa chỉ trong 1 chạm)</a:t>
            </a:r>
          </a:p>
          <a:p>
            <a:pPr>
              <a:spcBef>
                <a:spcPts val="600"/>
              </a:spcBef>
              <a:defRPr sz="1100">
                <a:solidFill>
                  <a:srgbClr val="141923"/>
                </a:solidFill>
              </a:defRPr>
            </a:pPr>
            <a:r>
              <a:t>• UC06: Quét mã VietQR thanh toán tự động điền số tiền</a:t>
            </a:r>
          </a:p>
          <a:p>
            <a:pPr>
              <a:spcBef>
                <a:spcPts val="600"/>
              </a:spcBef>
              <a:defRPr sz="1100">
                <a:solidFill>
                  <a:srgbClr val="141923"/>
                </a:solidFill>
              </a:defRPr>
            </a:pPr>
            <a:r>
              <a:t>• UC07: Tra cứu và theo dõi trạng thái đơn hàng cá nhân</a:t>
            </a:r>
          </a:p>
        </p:txBody>
      </p:sp>
      <p:sp>
        <p:nvSpPr>
          <p:cNvPr id="5" name="Rounded Rectangle 4"/>
          <p:cNvSpPr/>
          <p:nvPr/>
        </p:nvSpPr>
        <p:spPr>
          <a:xfrm>
            <a:off x="62179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B45309"/>
                </a:solidFill>
              </a:defRPr>
            </a:pPr>
            <a:r>
              <a:t>PHÂN HỆ QUẢN TRỊ VIÊN (ADMIN MANAGER)</a:t>
            </a:r>
          </a:p>
          <a:p>
            <a:pPr>
              <a:spcBef>
                <a:spcPts val="600"/>
              </a:spcBef>
              <a:defRPr sz="1100">
                <a:solidFill>
                  <a:srgbClr val="141923"/>
                </a:solidFill>
              </a:defRPr>
            </a:pPr>
            <a:r>
              <a:t>• UC08: Bảng điều khiển (Dashboard) thống kê doanh thu thực tế</a:t>
            </a:r>
          </a:p>
          <a:p>
            <a:pPr>
              <a:spcBef>
                <a:spcPts val="600"/>
              </a:spcBef>
              <a:defRPr sz="1100">
                <a:solidFill>
                  <a:srgbClr val="141923"/>
                </a:solidFill>
              </a:defRPr>
            </a:pPr>
            <a:r>
              <a:t>• UC09: Quản lý sản phẩm &amp; Thiết lập ma trận biến thể giá</a:t>
            </a:r>
          </a:p>
          <a:p>
            <a:pPr>
              <a:spcBef>
                <a:spcPts val="600"/>
              </a:spcBef>
              <a:defRPr sz="1100">
                <a:solidFill>
                  <a:srgbClr val="141923"/>
                </a:solidFill>
              </a:defRPr>
            </a:pPr>
            <a:r>
              <a:t>• UC10: Quản lý vòng đời đơn hàng (Chờ xác nhận -&gt; Đã giao)</a:t>
            </a:r>
          </a:p>
          <a:p>
            <a:pPr>
              <a:spcBef>
                <a:spcPts val="600"/>
              </a:spcBef>
              <a:defRPr sz="1100">
                <a:solidFill>
                  <a:srgbClr val="141923"/>
                </a:solidFill>
              </a:defRPr>
            </a:pPr>
            <a:r>
              <a:t>• UC11: Nhận diện chính xác hình thức (VietQR ⚡ vs COD 💵)</a:t>
            </a:r>
          </a:p>
          <a:p>
            <a:pPr>
              <a:spcBef>
                <a:spcPts val="600"/>
              </a:spcBef>
              <a:defRPr sz="1100">
                <a:solidFill>
                  <a:srgbClr val="141923"/>
                </a:solidFill>
              </a:defRPr>
            </a:pPr>
            <a:r>
              <a:t>• UC12: Cấu hình tài khoản ngân hàng thụ hưởng VietQR</a:t>
            </a:r>
          </a:p>
          <a:p>
            <a:pPr>
              <a:spcBef>
                <a:spcPts val="600"/>
              </a:spcBef>
              <a:defRPr sz="1100">
                <a:solidFill>
                  <a:srgbClr val="141923"/>
                </a:solidFill>
              </a:defRPr>
            </a:pPr>
            <a:r>
              <a:t>• UC13: Quản lý kho mã giảm giá (Vouchers) &amp; Bài viết công nghệ</a:t>
            </a:r>
          </a:p>
          <a:p>
            <a:pPr>
              <a:spcBef>
                <a:spcPts val="600"/>
              </a:spcBef>
              <a:defRPr sz="1100">
                <a:solidFill>
                  <a:srgbClr val="141923"/>
                </a:solidFill>
              </a:defRPr>
            </a:pPr>
            <a:r>
              <a:t>• UC14: Quản lý thông tin chuỗi showroom và hotline CSKH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6. Thiết Kế Cơ Sở Dữ Liệu Quan Hệ (SQLite Schema)</a:t>
            </a:r>
          </a:p>
        </p:txBody>
      </p:sp>
      <p:sp>
        <p:nvSpPr>
          <p:cNvPr id="3" name="Rounded Rectangle 2"/>
          <p:cNvSpPr/>
          <p:nvPr/>
        </p:nvSpPr>
        <p:spPr>
          <a:xfrm>
            <a:off x="731520" y="1645920"/>
            <a:ext cx="5120640" cy="201168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83080"/>
            <a:ext cx="4754880" cy="1737360"/>
          </a:xfrm>
          <a:prstGeom prst="rect">
            <a:avLst/>
          </a:prstGeom>
          <a:noFill/>
        </p:spPr>
        <p:txBody>
          <a:bodyPr wrap="square">
            <a:spAutoFit/>
          </a:bodyPr>
          <a:lstStyle/>
          <a:p>
            <a:pPr>
              <a:defRPr sz="1200" b="1">
                <a:solidFill>
                  <a:srgbClr val="0275A9"/>
                </a:solidFill>
              </a:defRPr>
            </a:pPr>
            <a:r>
              <a:t>Bảng don_hang (Đơn đặt hàng)</a:t>
            </a:r>
          </a:p>
          <a:p>
            <a:pPr>
              <a:spcBef>
                <a:spcPts val="200"/>
              </a:spcBef>
              <a:defRPr sz="1050">
                <a:solidFill>
                  <a:srgbClr val="141923"/>
                </a:solidFill>
              </a:defRPr>
            </a:pPr>
            <a:r>
              <a:t>Khóa chính: ma_don_hang (TEXT)</a:t>
            </a:r>
          </a:p>
          <a:p>
            <a:pPr>
              <a:spcBef>
                <a:spcPts val="200"/>
              </a:spcBef>
              <a:defRPr sz="1050">
                <a:solidFill>
                  <a:srgbClr val="141923"/>
                </a:solidFill>
              </a:defRPr>
            </a:pPr>
            <a:r>
              <a:t>• ten_khach_hang, so_dien_thoai, dia_chi</a:t>
            </a:r>
          </a:p>
          <a:p>
            <a:pPr>
              <a:spcBef>
                <a:spcPts val="200"/>
              </a:spcBef>
              <a:defRPr sz="1050">
                <a:solidFill>
                  <a:srgbClr val="141923"/>
                </a:solidFill>
              </a:defRPr>
            </a:pPr>
            <a:r>
              <a:t>• phuong_thuc_thanh_toan ('vietqr' / 'cod')</a:t>
            </a:r>
          </a:p>
          <a:p>
            <a:pPr>
              <a:spcBef>
                <a:spcPts val="200"/>
              </a:spcBef>
              <a:defRPr sz="1050">
                <a:solidFill>
                  <a:srgbClr val="141923"/>
                </a:solidFill>
              </a:defRPr>
            </a:pPr>
            <a:r>
              <a:t>• tong_tien, tam_tinh, tien_giam, ma_voucher</a:t>
            </a:r>
          </a:p>
          <a:p>
            <a:pPr>
              <a:spcBef>
                <a:spcPts val="200"/>
              </a:spcBef>
              <a:defRPr sz="1050">
                <a:solidFill>
                  <a:srgbClr val="141923"/>
                </a:solidFill>
              </a:defRPr>
            </a:pPr>
            <a:r>
              <a:t>• trang_thai (Chờ xác nhận, Đang giao...)</a:t>
            </a:r>
          </a:p>
          <a:p>
            <a:pPr>
              <a:spcBef>
                <a:spcPts val="200"/>
              </a:spcBef>
              <a:defRPr sz="1050">
                <a:solidFill>
                  <a:srgbClr val="141923"/>
                </a:solidFill>
              </a:defRPr>
            </a:pPr>
            <a:r>
              <a:t>• ma_nguoi_dung (Khóa ngoại liên kết người dùng)</a:t>
            </a:r>
          </a:p>
        </p:txBody>
      </p:sp>
      <p:sp>
        <p:nvSpPr>
          <p:cNvPr id="5" name="Rounded Rectangle 4"/>
          <p:cNvSpPr/>
          <p:nvPr/>
        </p:nvSpPr>
        <p:spPr>
          <a:xfrm>
            <a:off x="6217920" y="1645920"/>
            <a:ext cx="5120640" cy="201168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0" y="1783080"/>
            <a:ext cx="4754880" cy="1737360"/>
          </a:xfrm>
          <a:prstGeom prst="rect">
            <a:avLst/>
          </a:prstGeom>
          <a:noFill/>
        </p:spPr>
        <p:txBody>
          <a:bodyPr wrap="square">
            <a:spAutoFit/>
          </a:bodyPr>
          <a:lstStyle/>
          <a:p>
            <a:pPr>
              <a:defRPr sz="1200" b="1">
                <a:solidFill>
                  <a:srgbClr val="0275A9"/>
                </a:solidFill>
              </a:defRPr>
            </a:pPr>
            <a:r>
              <a:t>Bảng nguoi_dung (Thành viên)</a:t>
            </a:r>
          </a:p>
          <a:p>
            <a:pPr>
              <a:spcBef>
                <a:spcPts val="200"/>
              </a:spcBef>
              <a:defRPr sz="1050">
                <a:solidFill>
                  <a:srgbClr val="141923"/>
                </a:solidFill>
              </a:defRPr>
            </a:pPr>
            <a:r>
              <a:t>Khóa chính: id (TEXT)</a:t>
            </a:r>
          </a:p>
          <a:p>
            <a:pPr>
              <a:spcBef>
                <a:spcPts val="200"/>
              </a:spcBef>
              <a:defRPr sz="1050">
                <a:solidFill>
                  <a:srgbClr val="141923"/>
                </a:solidFill>
              </a:defRPr>
            </a:pPr>
            <a:r>
              <a:t>• ho_ten: Họ và tên người nhận hàng</a:t>
            </a:r>
          </a:p>
          <a:p>
            <a:pPr>
              <a:spcBef>
                <a:spcPts val="200"/>
              </a:spcBef>
              <a:defRPr sz="1050">
                <a:solidFill>
                  <a:srgbClr val="141923"/>
                </a:solidFill>
              </a:defRPr>
            </a:pPr>
            <a:r>
              <a:t>• so_dien_thoai: Số điện thoại UNIQUE</a:t>
            </a:r>
          </a:p>
          <a:p>
            <a:pPr>
              <a:spcBef>
                <a:spcPts val="200"/>
              </a:spcBef>
              <a:defRPr sz="1050">
                <a:solidFill>
                  <a:srgbClr val="141923"/>
                </a:solidFill>
              </a:defRPr>
            </a:pPr>
            <a:r>
              <a:t>• mat_khau: Mật khẩu người dùng</a:t>
            </a:r>
          </a:p>
          <a:p>
            <a:pPr>
              <a:spcBef>
                <a:spcPts val="200"/>
              </a:spcBef>
              <a:defRPr sz="1050">
                <a:solidFill>
                  <a:srgbClr val="141923"/>
                </a:solidFill>
              </a:defRPr>
            </a:pPr>
            <a:r>
              <a:t>• tinh_thanh, quan_huyen, dia_chi mặc định</a:t>
            </a:r>
          </a:p>
          <a:p>
            <a:pPr>
              <a:spcBef>
                <a:spcPts val="200"/>
              </a:spcBef>
              <a:defRPr sz="1050">
                <a:solidFill>
                  <a:srgbClr val="141923"/>
                </a:solidFill>
              </a:defRPr>
            </a:pPr>
            <a:r>
              <a:t>• hang_thanh_vien, ngay_tao</a:t>
            </a:r>
          </a:p>
        </p:txBody>
      </p:sp>
      <p:sp>
        <p:nvSpPr>
          <p:cNvPr id="7" name="Rounded Rectangle 6"/>
          <p:cNvSpPr/>
          <p:nvPr/>
        </p:nvSpPr>
        <p:spPr>
          <a:xfrm>
            <a:off x="731520" y="4023360"/>
            <a:ext cx="5120640" cy="201168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4160520"/>
            <a:ext cx="4754880" cy="1737360"/>
          </a:xfrm>
          <a:prstGeom prst="rect">
            <a:avLst/>
          </a:prstGeom>
          <a:noFill/>
        </p:spPr>
        <p:txBody>
          <a:bodyPr wrap="square">
            <a:spAutoFit/>
          </a:bodyPr>
          <a:lstStyle/>
          <a:p>
            <a:pPr>
              <a:defRPr sz="1200" b="1">
                <a:solidFill>
                  <a:srgbClr val="0275A9"/>
                </a:solidFill>
              </a:defRPr>
            </a:pPr>
            <a:r>
              <a:t>Bảng san_pham (Sản phẩm linh kiện)</a:t>
            </a:r>
          </a:p>
          <a:p>
            <a:pPr>
              <a:spcBef>
                <a:spcPts val="200"/>
              </a:spcBef>
              <a:defRPr sz="1050">
                <a:solidFill>
                  <a:srgbClr val="141923"/>
                </a:solidFill>
              </a:defRPr>
            </a:pPr>
            <a:r>
              <a:t>Khóa chính: id (TEXT)</a:t>
            </a:r>
          </a:p>
          <a:p>
            <a:pPr>
              <a:spcBef>
                <a:spcPts val="200"/>
              </a:spcBef>
              <a:defRPr sz="1050">
                <a:solidFill>
                  <a:srgbClr val="141923"/>
                </a:solidFill>
              </a:defRPr>
            </a:pPr>
            <a:r>
              <a:t>• ten, ten_day_du, duong_dan (slug)</a:t>
            </a:r>
          </a:p>
          <a:p>
            <a:pPr>
              <a:spcBef>
                <a:spcPts val="200"/>
              </a:spcBef>
              <a:defRPr sz="1050">
                <a:solidFill>
                  <a:srgbClr val="141923"/>
                </a:solidFill>
              </a:defRPr>
            </a:pPr>
            <a:r>
              <a:t>• thuong_hieu, ma_danh_muc</a:t>
            </a:r>
          </a:p>
          <a:p>
            <a:pPr>
              <a:spcBef>
                <a:spcPts val="200"/>
              </a:spcBef>
              <a:defRPr sz="1050">
                <a:solidFill>
                  <a:srgbClr val="141923"/>
                </a:solidFill>
              </a:defRPr>
            </a:pPr>
            <a:r>
              <a:t>• gia_ban, gia_goc, ton_kho, trang_thai</a:t>
            </a:r>
          </a:p>
          <a:p>
            <a:pPr>
              <a:spcBef>
                <a:spcPts val="200"/>
              </a:spcBef>
              <a:defRPr sz="1050">
                <a:solidFill>
                  <a:srgbClr val="141923"/>
                </a:solidFill>
              </a:defRPr>
            </a:pPr>
            <a:r>
              <a:t>• nhom_phan_loai (JSON nhóm tùy chọn)</a:t>
            </a:r>
          </a:p>
          <a:p>
            <a:pPr>
              <a:spcBef>
                <a:spcPts val="200"/>
              </a:spcBef>
              <a:defRPr sz="1050">
                <a:solidFill>
                  <a:srgbClr val="141923"/>
                </a:solidFill>
              </a:defRPr>
            </a:pPr>
            <a:r>
              <a:t>• bien_the (JSON ma trận tổ hợp biến thể)</a:t>
            </a:r>
          </a:p>
        </p:txBody>
      </p:sp>
      <p:sp>
        <p:nvSpPr>
          <p:cNvPr id="9" name="Rounded Rectangle 8"/>
          <p:cNvSpPr/>
          <p:nvPr/>
        </p:nvSpPr>
        <p:spPr>
          <a:xfrm>
            <a:off x="6217920" y="4023360"/>
            <a:ext cx="5120640" cy="201168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4160520"/>
            <a:ext cx="4754880" cy="1737360"/>
          </a:xfrm>
          <a:prstGeom prst="rect">
            <a:avLst/>
          </a:prstGeom>
          <a:noFill/>
        </p:spPr>
        <p:txBody>
          <a:bodyPr wrap="square">
            <a:spAutoFit/>
          </a:bodyPr>
          <a:lstStyle/>
          <a:p>
            <a:pPr>
              <a:defRPr sz="1200" b="1">
                <a:solidFill>
                  <a:srgbClr val="0275A9"/>
                </a:solidFill>
              </a:defRPr>
            </a:pPr>
            <a:r>
              <a:t>Bảng cai_dat_cua_hang &amp; ma_giam_gia</a:t>
            </a:r>
          </a:p>
          <a:p>
            <a:pPr>
              <a:spcBef>
                <a:spcPts val="200"/>
              </a:spcBef>
              <a:defRPr sz="1050">
                <a:solidFill>
                  <a:srgbClr val="141923"/>
                </a:solidFill>
              </a:defRPr>
            </a:pPr>
            <a:r>
              <a:t>Bảng cai_dat_cua_hang (Khóa: khoa):</a:t>
            </a:r>
          </a:p>
          <a:p>
            <a:pPr>
              <a:spcBef>
                <a:spcPts val="200"/>
              </a:spcBef>
              <a:defRPr sz="1050">
                <a:solidFill>
                  <a:srgbClr val="141923"/>
                </a:solidFill>
              </a:defRPr>
            </a:pPr>
            <a:r>
              <a:t>• bank_id, bank_name, bank_account_no, bank_account_name (Tài khoản VietQR)</a:t>
            </a:r>
          </a:p>
          <a:p>
            <a:pPr>
              <a:spcBef>
                <a:spcPts val="200"/>
              </a:spcBef>
              <a:defRPr sz="1050">
                <a:solidFill>
                  <a:srgbClr val="141923"/>
                </a:solidFill>
              </a:defRPr>
            </a:pPr>
            <a:r>
              <a:t>Bảng ma_giam_gia (Khóa: ma_voucher):</a:t>
            </a:r>
          </a:p>
          <a:p>
            <a:pPr>
              <a:spcBef>
                <a:spcPts val="200"/>
              </a:spcBef>
              <a:defRPr sz="1050">
                <a:solidFill>
                  <a:srgbClr val="141923"/>
                </a:solidFill>
              </a:defRPr>
            </a:pPr>
            <a:r>
              <a:t>• loai_giam_gia, gia_tri_giam, don_toi_thieu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7. Điểm Sáng Nâng Cao 1: Thanh Toán Số Động VietQR Chuẩn Napas 247</a:t>
            </a:r>
          </a:p>
        </p:txBody>
      </p:sp>
      <p:sp>
        <p:nvSpPr>
          <p:cNvPr id="3" name="Rounded Rectangle 2"/>
          <p:cNvSpPr/>
          <p:nvPr/>
        </p:nvSpPr>
        <p:spPr>
          <a:xfrm>
            <a:off x="731520" y="1645920"/>
            <a:ext cx="5120640"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TỰ ĐỘNG HÓA THANH TOÁN KHÔNG TRUNG GIAN</a:t>
            </a:r>
          </a:p>
          <a:p>
            <a:pPr>
              <a:spcBef>
                <a:spcPts val="1000"/>
              </a:spcBef>
              <a:defRPr sz="1150">
                <a:solidFill>
                  <a:srgbClr val="141923"/>
                </a:solidFill>
              </a:defRPr>
            </a:pPr>
            <a:r>
              <a:t>✔ Không tốn phí hoa hồng cổng thanh toán (tiết kiệm 1.5% - 2.5% chi phí cho mỗi đơn hàng linh kiện).</a:t>
            </a:r>
          </a:p>
          <a:p>
            <a:pPr>
              <a:spcBef>
                <a:spcPts val="1000"/>
              </a:spcBef>
              <a:defRPr sz="1150">
                <a:solidFill>
                  <a:srgbClr val="141923"/>
                </a:solidFill>
              </a:defRPr>
            </a:pPr>
            <a:r>
              <a:t>✔ Payload động theo thời gian thực: Tự động trích xuất Ngân hàng thụ hưởng, STK, Tên chủ tài khoản từ Admin kết hợp với Tổng tiền và Mã đơn hàng.</a:t>
            </a:r>
          </a:p>
          <a:p>
            <a:pPr>
              <a:spcBef>
                <a:spcPts val="1000"/>
              </a:spcBef>
              <a:defRPr sz="1150">
                <a:solidFill>
                  <a:srgbClr val="141923"/>
                </a:solidFill>
              </a:defRPr>
            </a:pPr>
            <a:r>
              <a:t>✔ Tiêu chuẩn Napas 247 quốc gia: Tương thích 100% với ứng dụng di động của hơn 40 ngân hàng tại Việt Nam.</a:t>
            </a:r>
          </a:p>
          <a:p>
            <a:pPr>
              <a:spcBef>
                <a:spcPts val="1000"/>
              </a:spcBef>
              <a:defRPr sz="1150">
                <a:solidFill>
                  <a:srgbClr val="141923"/>
                </a:solidFill>
              </a:defRPr>
            </a:pPr>
            <a:r>
              <a:t>✔ Khách chỉ việc quét mã: Màn hình điện thoại tự động hiển thị chính xác số tiền và mã đơn hàng, không cần nhập tay.</a:t>
            </a:r>
          </a:p>
        </p:txBody>
      </p:sp>
      <p:sp>
        <p:nvSpPr>
          <p:cNvPr id="5" name="Rounded Rectangle 4"/>
          <p:cNvSpPr/>
          <p:nvPr/>
        </p:nvSpPr>
        <p:spPr>
          <a:xfrm>
            <a:off x="62179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141923"/>
                </a:solidFill>
              </a:defRPr>
            </a:pPr>
            <a:r>
              <a:t>LUỒNG SINH DỮ LIỆU VIETQR ĐỘNG</a:t>
            </a:r>
          </a:p>
          <a:p>
            <a:pPr>
              <a:spcBef>
                <a:spcPts val="600"/>
              </a:spcBef>
              <a:defRPr sz="1100">
                <a:solidFill>
                  <a:srgbClr val="141923"/>
                </a:solidFill>
              </a:defRPr>
            </a:pPr>
            <a:r>
              <a:t>1. Khách bấm 'Xác nhận đặt hàng' với phương thức VietQR</a:t>
            </a:r>
          </a:p>
          <a:p>
            <a:pPr>
              <a:spcBef>
                <a:spcPts val="600"/>
              </a:spcBef>
              <a:defRPr sz="1100">
                <a:solidFill>
                  <a:srgbClr val="141923"/>
                </a:solidFill>
              </a:defRPr>
            </a:pPr>
            <a:r>
              <a:t>2. Backend tạo đơn hàng: ID = #NET-Q8XHJ, Tổng = 284.900đ</a:t>
            </a:r>
          </a:p>
          <a:p>
            <a:pPr>
              <a:spcBef>
                <a:spcPts val="600"/>
              </a:spcBef>
              <a:defRPr sz="1100">
                <a:solidFill>
                  <a:srgbClr val="141923"/>
                </a:solidFill>
              </a:defRPr>
            </a:pPr>
            <a:r>
              <a:t>3. Client gọi API GET /api/settings lấy cấu hình ngân hàng</a:t>
            </a:r>
          </a:p>
          <a:p>
            <a:pPr>
              <a:spcBef>
                <a:spcPts val="600"/>
              </a:spcBef>
              <a:defRPr sz="1100">
                <a:solidFill>
                  <a:srgbClr val="141923"/>
                </a:solidFill>
              </a:defRPr>
            </a:pPr>
            <a:r>
              <a:t>4. Hàm generateVietQRUrl() tổng hợp payload:</a:t>
            </a:r>
          </a:p>
          <a:p>
            <a:pPr>
              <a:spcBef>
                <a:spcPts val="600"/>
              </a:spcBef>
              <a:defRPr sz="1100">
                <a:solidFill>
                  <a:srgbClr val="141923"/>
                </a:solidFill>
              </a:defRPr>
            </a:pPr>
            <a:r>
              <a:t>   https://img.vietqr.io/image/MB-0901234567-compact2.png</a:t>
            </a:r>
            <a:br/>
            <a:r>
              <a:t>   ?amount=284900&amp;addInfo=NET-Q8XHJ&amp;accountName=NET%20STORE</a:t>
            </a:r>
          </a:p>
          <a:p>
            <a:pPr>
              <a:spcBef>
                <a:spcPts val="600"/>
              </a:spcBef>
              <a:defRPr sz="1100">
                <a:solidFill>
                  <a:srgbClr val="141923"/>
                </a:solidFill>
              </a:defRPr>
            </a:pPr>
            <a:r>
              <a:t>5. Render mã QR chuẩn mực trên trang OrderSuccessPage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8. Điểm Sáng Nâng Cao 2: Cơ Chế Phòng Ngự Chống Đơn Rác Đa Tầng</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DC2626"/>
                </a:solidFill>
              </a:defRPr>
            </a:pPr>
            <a:r>
              <a:t>VẤN NẠN SPAM ĐƠN ẢO TRONG BÁN LINH KIỆN</a:t>
            </a:r>
          </a:p>
          <a:p>
            <a:pPr>
              <a:spcBef>
                <a:spcPts val="1200"/>
              </a:spcBef>
              <a:defRPr sz="1150">
                <a:solidFill>
                  <a:srgbClr val="141923"/>
                </a:solidFill>
              </a:defRPr>
            </a:pPr>
            <a:r>
              <a:t>✖ Bot hoặc đối thủ sử dụng script tự động gửi hàng loạt request POST /api/orders.</a:t>
            </a:r>
          </a:p>
          <a:p>
            <a:pPr>
              <a:spcBef>
                <a:spcPts val="1200"/>
              </a:spcBef>
              <a:defRPr sz="1150">
                <a:solidFill>
                  <a:srgbClr val="141923"/>
                </a:solidFill>
              </a:defRPr>
            </a:pPr>
            <a:r>
              <a:t>✖ Hậu quả: Tồn kho thực tế bị đóng băng ảo, hàng hóa không đến được tay khách thật.</a:t>
            </a:r>
          </a:p>
          <a:p>
            <a:pPr>
              <a:spcBef>
                <a:spcPts val="1200"/>
              </a:spcBef>
              <a:defRPr sz="1150">
                <a:solidFill>
                  <a:srgbClr val="141923"/>
                </a:solidFill>
              </a:defRPr>
            </a:pPr>
            <a:r>
              <a:t>✖ Đơn hàng vô danh 'Khách vãng lai' không có thông tin xác thực gây thất thoát chi phí đóng gói vận chuyển.</a:t>
            </a:r>
          </a:p>
        </p:txBody>
      </p:sp>
      <p:sp>
        <p:nvSpPr>
          <p:cNvPr id="5" name="Rounded Rectangle 4"/>
          <p:cNvSpPr/>
          <p:nvPr/>
        </p:nvSpPr>
        <p:spPr>
          <a:xfrm>
            <a:off x="6217920" y="1645920"/>
            <a:ext cx="5120640"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GIẢI PHÁP PHÒNG THỦ 2 TẦNG (TWO-TIER SHIELD)</a:t>
            </a:r>
          </a:p>
          <a:p>
            <a:pPr>
              <a:spcBef>
                <a:spcPts val="1000"/>
              </a:spcBef>
              <a:defRPr sz="1100">
                <a:solidFill>
                  <a:srgbClr val="141923"/>
                </a:solidFill>
              </a:defRPr>
            </a:pPr>
            <a:r>
              <a:t>TẦNG 1 - FRONTEND AUTH WALL:</a:t>
            </a:r>
            <a:br/>
            <a:r>
              <a:t>• Chặn đứng khách chưa đăng nhập tại giỏ hàng và trang Checkout.</a:t>
            </a:r>
            <a:br/>
            <a:r>
              <a:t>• Hiển thị màn hình khiên bảo vệ, yêu cầu định danh thành viên trước khi mua.</a:t>
            </a:r>
          </a:p>
          <a:p>
            <a:pPr>
              <a:spcBef>
                <a:spcPts val="1000"/>
              </a:spcBef>
              <a:defRPr sz="1100">
                <a:solidFill>
                  <a:srgbClr val="141923"/>
                </a:solidFill>
              </a:defRPr>
            </a:pPr>
            <a:r>
              <a:t>TẦNG 2 - BACKEND GATING &amp; RATE LIMITING:</a:t>
            </a:r>
            <a:br/>
            <a:r>
              <a:t>• Kiểm tra SĐT trong CSDL nguoi_dung (Chặn đứng HTTP 401/403).</a:t>
            </a:r>
            <a:br/>
            <a:r>
              <a:t>• Rate Limiting: 1 SĐT chỉ được đặt 1 đơn/15s (Chặn bot spam HTTP 429).</a:t>
            </a:r>
            <a:br/>
            <a:r>
              <a:t>• Neo cố định SĐT chính chủ trên đơn hàng (Chống mạo danh).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9. Điểm Sáng Nâng Cao 3: Ma Trận Biến Thể &amp; Khử Lỗi Toán Học Giá Âm</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DC2626"/>
                </a:solidFill>
              </a:defRPr>
            </a:pPr>
            <a:r>
              <a:t>LỖI TOÁN HỌC TRỪ ĐÚP GIÁ BIẾN THỂ</a:t>
            </a:r>
          </a:p>
          <a:p>
            <a:pPr>
              <a:spcBef>
                <a:spcPts val="800"/>
              </a:spcBef>
              <a:defRPr sz="1100">
                <a:solidFill>
                  <a:srgbClr val="141923"/>
                </a:solidFill>
              </a:defRPr>
            </a:pPr>
            <a:r>
              <a:t>Hiện tượng thực tế: Sản phẩm trong giỏ hàng bị tính âm -25.071.200đ, tổng tiền đơn hàng bị kẹt về 0đ.</a:t>
            </a:r>
          </a:p>
          <a:p>
            <a:pPr>
              <a:spcBef>
                <a:spcPts val="800"/>
              </a:spcBef>
              <a:defRPr sz="1100">
                <a:solidFill>
                  <a:srgbClr val="141923"/>
                </a:solidFill>
              </a:defRPr>
            </a:pPr>
            <a:r>
              <a:t>Nguyên nhân gốc rễ: Trang chi tiết (PDP) đã tính giá cuối (284.900đ), nhưng hàm addToCart lại tự ý cộng thêm độ lệch giá âm (priceDiff = -25.356.100đ):</a:t>
            </a:r>
          </a:p>
          <a:p>
            <a:pPr>
              <a:spcBef>
                <a:spcPts val="800"/>
              </a:spcBef>
              <a:defRPr sz="1100">
                <a:solidFill>
                  <a:srgbClr val="141923"/>
                </a:solidFill>
              </a:defRPr>
            </a:pPr>
            <a:r>
              <a:t>  284.900đ + (-25.356.100đ) = -25.071.200đ (Bị trừ đúp 2 lần).</a:t>
            </a:r>
          </a:p>
          <a:p>
            <a:pPr>
              <a:spcBef>
                <a:spcPts val="800"/>
              </a:spcBef>
              <a:defRPr sz="1100">
                <a:solidFill>
                  <a:srgbClr val="141923"/>
                </a:solidFill>
              </a:defRPr>
            </a:pPr>
            <a:r>
              <a:t>Bộ nhớ trình duyệt (localStorage) thiếu cơ chế khử giá âm khiến lỗi bị lưu vĩnh viễn.</a:t>
            </a:r>
          </a:p>
        </p:txBody>
      </p:sp>
      <p:sp>
        <p:nvSpPr>
          <p:cNvPr id="5" name="Rounded Rectangle 4"/>
          <p:cNvSpPr/>
          <p:nvPr/>
        </p:nvSpPr>
        <p:spPr>
          <a:xfrm>
            <a:off x="6217920" y="1645920"/>
            <a:ext cx="5120640" cy="4389120"/>
          </a:xfrm>
          <a:prstGeom prst="roundRect">
            <a:avLst/>
          </a:prstGeom>
          <a:solidFill>
            <a:srgbClr val="EAF4FA"/>
          </a:solidFill>
          <a:ln w="12700">
            <a:solidFill>
              <a:srgbClr val="027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CHUẨN HÓA SINGLE SOURCE OF TRUTH (SSOT)</a:t>
            </a:r>
          </a:p>
          <a:p>
            <a:pPr>
              <a:spcBef>
                <a:spcPts val="800"/>
              </a:spcBef>
              <a:defRPr sz="1100">
                <a:solidFill>
                  <a:srgbClr val="141923"/>
                </a:solidFill>
              </a:defRPr>
            </a:pPr>
            <a:r>
              <a:t>1. Ưu tiên giá biến thể trực tiếp:</a:t>
            </a:r>
            <a:br/>
            <a:r>
              <a:t>Caller truyền options.price -&gt; Giỏ hàng sử dụng ngay giá này, không tự ý cộng trừ lặp lại.</a:t>
            </a:r>
          </a:p>
          <a:p>
            <a:pPr>
              <a:spcBef>
                <a:spcPts val="800"/>
              </a:spcBef>
              <a:defRPr sz="1100">
                <a:solidFill>
                  <a:srgbClr val="141923"/>
                </a:solidFill>
              </a:defRPr>
            </a:pPr>
            <a:r>
              <a:t>2. Khóa chặn sàn toán học (Clamping):</a:t>
            </a:r>
            <a:br/>
            <a:r>
              <a:t>Bọc toàn bộ phép tính giá và tạm tính qua Math.max(0, price).</a:t>
            </a:r>
          </a:p>
          <a:p>
            <a:pPr>
              <a:spcBef>
                <a:spcPts val="800"/>
              </a:spcBef>
              <a:defRPr sz="1100">
                <a:solidFill>
                  <a:srgbClr val="141923"/>
                </a:solidFill>
              </a:defRPr>
            </a:pPr>
            <a:r>
              <a:t>3. Tự động thanh lọc Cache giỏ hàng:</a:t>
            </a:r>
            <a:br/>
            <a:r>
              <a:t>Khi nạp từ localStorage, tự động khử toàn bộ các mục có giá trị âm cũ về giá chuẩn &gt;= 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10. Demo Storefront: Trang Chủ &amp; Tìm Kiếm Phím Tắt Ctrl+K</a:t>
            </a:r>
          </a:p>
        </p:txBody>
      </p:sp>
      <p:sp>
        <p:nvSpPr>
          <p:cNvPr id="3" name="Rounded Rectangle 2"/>
          <p:cNvSpPr/>
          <p:nvPr/>
        </p:nvSpPr>
        <p:spPr>
          <a:xfrm>
            <a:off x="73152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3017520" cy="4023360"/>
          </a:xfrm>
          <a:prstGeom prst="rect">
            <a:avLst/>
          </a:prstGeom>
          <a:noFill/>
        </p:spPr>
        <p:txBody>
          <a:bodyPr wrap="square">
            <a:spAutoFit/>
          </a:bodyPr>
          <a:lstStyle/>
          <a:p>
            <a:pPr>
              <a:defRPr sz="1200" b="1">
                <a:solidFill>
                  <a:srgbClr val="0275A9"/>
                </a:solidFill>
              </a:defRPr>
            </a:pPr>
            <a:r>
              <a:t>TÌM KIẾM TOÀN NĂNG (HOTKEY CTRL + K)</a:t>
            </a:r>
          </a:p>
          <a:p>
            <a:pPr>
              <a:spcBef>
                <a:spcPts val="1000"/>
              </a:spcBef>
              <a:defRPr sz="1100">
                <a:solidFill>
                  <a:srgbClr val="141923"/>
                </a:solidFill>
              </a:defRPr>
            </a:pPr>
            <a:r>
              <a:t>Tích hợp phím tắt Ctrl + K như các ứng dụng công nghệ hàng đầu (Spotlight / Linear).</a:t>
            </a:r>
            <a:br/>
            <a:r>
              <a:t>• Tự động kích hoạt thanh tìm kiếm khi bấm phím tắt.</a:t>
            </a:r>
            <a:br/>
            <a:r>
              <a:t>• Gợi ý tức thì 5 sản phẩm khớp tên, thương hiệu, thông số kỹ thuật.</a:t>
            </a:r>
          </a:p>
        </p:txBody>
      </p:sp>
      <p:sp>
        <p:nvSpPr>
          <p:cNvPr id="5" name="Rounded Rectangle 4"/>
          <p:cNvSpPr/>
          <p:nvPr/>
        </p:nvSpPr>
        <p:spPr>
          <a:xfrm>
            <a:off x="434340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26280" y="1828800"/>
            <a:ext cx="3017520" cy="4023360"/>
          </a:xfrm>
          <a:prstGeom prst="rect">
            <a:avLst/>
          </a:prstGeom>
          <a:noFill/>
        </p:spPr>
        <p:txBody>
          <a:bodyPr wrap="square">
            <a:spAutoFit/>
          </a:bodyPr>
          <a:lstStyle/>
          <a:p>
            <a:pPr>
              <a:defRPr sz="1200" b="1">
                <a:solidFill>
                  <a:srgbClr val="141923"/>
                </a:solidFill>
              </a:defRPr>
            </a:pPr>
            <a:r>
              <a:t>BỘ LỌC DANH MỤC &amp; HỆ SINH THÁI</a:t>
            </a:r>
          </a:p>
          <a:p>
            <a:pPr>
              <a:spcBef>
                <a:spcPts val="1000"/>
              </a:spcBef>
              <a:defRPr sz="1100">
                <a:solidFill>
                  <a:srgbClr val="141923"/>
                </a:solidFill>
              </a:defRPr>
            </a:pPr>
            <a:r>
              <a:t>Phân loại linh kiện theo danh mục chuẩn mực (Điện thoại, Laptop, Máy tính bảng, Âm thanh, Phụ kiện).</a:t>
            </a:r>
            <a:br/>
            <a:r>
              <a:t>• Hiển thị bộ sưu tập góc làm việc tối giản.</a:t>
            </a:r>
            <a:br/>
            <a:r>
              <a:t>• Bộ lọc tab hệ sinh thái: Làm việc, Giải trí, Sức khỏe.</a:t>
            </a:r>
          </a:p>
        </p:txBody>
      </p:sp>
      <p:sp>
        <p:nvSpPr>
          <p:cNvPr id="7" name="Rounded Rectangle 6"/>
          <p:cNvSpPr/>
          <p:nvPr/>
        </p:nvSpPr>
        <p:spPr>
          <a:xfrm>
            <a:off x="7955280" y="1645920"/>
            <a:ext cx="33832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828800"/>
            <a:ext cx="3017520" cy="4023360"/>
          </a:xfrm>
          <a:prstGeom prst="rect">
            <a:avLst/>
          </a:prstGeom>
          <a:noFill/>
        </p:spPr>
        <p:txBody>
          <a:bodyPr wrap="square">
            <a:spAutoFit/>
          </a:bodyPr>
          <a:lstStyle/>
          <a:p>
            <a:pPr>
              <a:defRPr sz="1200" b="1">
                <a:solidFill>
                  <a:srgbClr val="0275A9"/>
                </a:solidFill>
              </a:defRPr>
            </a:pPr>
            <a:r>
              <a:t>CAM KẾT 4 CHẤT LƯỢNG VÀNG</a:t>
            </a:r>
          </a:p>
          <a:p>
            <a:pPr>
              <a:spcBef>
                <a:spcPts val="1000"/>
              </a:spcBef>
              <a:defRPr sz="1100">
                <a:solidFill>
                  <a:srgbClr val="141923"/>
                </a:solidFill>
              </a:defRPr>
            </a:pPr>
            <a:r>
              <a:t>Đồng bộ từ CSDL bảng cai_dat_cua_hang:</a:t>
            </a:r>
            <a:br/>
            <a:r>
              <a:t>• Cam kết chính hãng 100% VN/A.</a:t>
            </a:r>
            <a:br/>
            <a:r>
              <a:t>• Giao nhanh 2h nội thành.</a:t>
            </a:r>
            <a:br/>
            <a:r>
              <a:t>• Trả góp 0% linh hoạt.</a:t>
            </a:r>
            <a:br/>
            <a:r>
              <a:t>• Bảo hành chính hãng 12 tháng tại hệ thống Showrooms.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11. Demo Storefront: Chi Tiết Linh Kiện &amp; Tùy Biến Cấu Hình</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TÙY BIẾN MA TRẬN BIẾN THỂ TRỰC QUAN</a:t>
            </a:r>
          </a:p>
          <a:p>
            <a:pPr>
              <a:spcBef>
                <a:spcPts val="800"/>
              </a:spcBef>
              <a:defRPr sz="1100">
                <a:solidFill>
                  <a:srgbClr val="141923"/>
                </a:solidFill>
              </a:defRPr>
            </a:pPr>
            <a:r>
              <a:t>• Chuyển đổi hình ảnh tức thì: Album ảnh thu nhỏ (Thumbnails) tự đổi ảnh chính khi rê chuột hoặc chọn màu sắc tương ứng.</a:t>
            </a:r>
          </a:p>
          <a:p>
            <a:pPr>
              <a:spcBef>
                <a:spcPts val="800"/>
              </a:spcBef>
              <a:defRPr sz="1100">
                <a:solidFill>
                  <a:srgbClr val="141923"/>
                </a:solidFill>
              </a:defRPr>
            </a:pPr>
            <a:r>
              <a:t>• Ma trận biến thể đa chiều: Lựa chọn linh hoạt giữa Dung lượng (128GB, 256GB) và Nhóm tùy chọn. Hệ thống tự động tính toán giá và cập nhật tồn kho.</a:t>
            </a:r>
          </a:p>
          <a:p>
            <a:pPr>
              <a:spcBef>
                <a:spcPts val="800"/>
              </a:spcBef>
              <a:defRPr sz="1100">
                <a:solidFill>
                  <a:srgbClr val="141923"/>
                </a:solidFill>
              </a:defRPr>
            </a:pPr>
            <a:r>
              <a:t>• Bảng thông số kỹ thuật chi tiết: Hiển thị cấu hình phần cứng (Chip, Màn hình, Pin, Cổng kết nối) rõ ràng, khoa học.</a:t>
            </a:r>
          </a:p>
          <a:p>
            <a:pPr>
              <a:spcBef>
                <a:spcPts val="800"/>
              </a:spcBef>
              <a:defRPr sz="1100">
                <a:solidFill>
                  <a:srgbClr val="141923"/>
                </a:solidFill>
              </a:defRPr>
            </a:pPr>
            <a:r>
              <a:t>• Tính toán trả góp linh hoạt: Công cụ tính trước số tiền trả trước và chi phí góp hàng tháng 0% lãi suất.</a:t>
            </a:r>
          </a:p>
        </p:txBody>
      </p:sp>
      <p:sp>
        <p:nvSpPr>
          <p:cNvPr id="5" name="Rounded Rectangle 4"/>
          <p:cNvSpPr/>
          <p:nvPr/>
        </p:nvSpPr>
        <p:spPr>
          <a:xfrm>
            <a:off x="6217920" y="1645920"/>
            <a:ext cx="5120640" cy="4389120"/>
          </a:xfrm>
          <a:prstGeom prst="roundRect">
            <a:avLst/>
          </a:prstGeom>
          <a:solidFill>
            <a:srgbClr val="EAF4FA"/>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141923"/>
                </a:solidFill>
              </a:defRPr>
            </a:pPr>
            <a:r>
              <a:t>ĐÁNH GIÁ &amp; TƯƠNG TÁC THỜI GIAN THỰC</a:t>
            </a:r>
          </a:p>
          <a:p>
            <a:pPr>
              <a:spcBef>
                <a:spcPts val="1000"/>
              </a:spcBef>
              <a:defRPr sz="1100">
                <a:solidFill>
                  <a:srgbClr val="141923"/>
                </a:solidFill>
              </a:defRPr>
            </a:pPr>
            <a:r>
              <a:t>✔ Xếp hạng sao (Rating 1 - 5 sao) và hiển thị số lượt đánh giá thực tế.</a:t>
            </a:r>
          </a:p>
          <a:p>
            <a:pPr>
              <a:spcBef>
                <a:spcPts val="1000"/>
              </a:spcBef>
              <a:defRPr sz="1100">
                <a:solidFill>
                  <a:srgbClr val="141923"/>
                </a:solidFill>
              </a:defRPr>
            </a:pPr>
            <a:r>
              <a:t>✔ Bình luận có gắn nhãn 'Đã mua hàng tại nét.' chứng thực độ tin cậy.</a:t>
            </a:r>
          </a:p>
          <a:p>
            <a:pPr>
              <a:spcBef>
                <a:spcPts val="1000"/>
              </a:spcBef>
              <a:defRPr sz="1100">
                <a:solidFill>
                  <a:srgbClr val="141923"/>
                </a:solidFill>
              </a:defRPr>
            </a:pPr>
            <a:r>
              <a:t>✔ Lưu trữ đánh giá linh hoạt trong SQLite và localStorage.</a:t>
            </a:r>
          </a:p>
          <a:p>
            <a:pPr>
              <a:spcBef>
                <a:spcPts val="1000"/>
              </a:spcBef>
              <a:defRPr sz="1100">
                <a:solidFill>
                  <a:srgbClr val="141923"/>
                </a:solidFill>
              </a:defRPr>
            </a:pPr>
            <a:r>
              <a:t>✔ Chính sách bảo hành VIP: Hiển thị gói quà tặng và bảo hành chính hãng đi kèm.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12. Demo Storefront: Giỏ Hàng Trượt &amp; Thanh Toán Auto-Fill</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NGĂN KÉO GIỎ HÀNG TRƯỢT (CART DRAWER)</a:t>
            </a:r>
          </a:p>
          <a:p>
            <a:pPr>
              <a:spcBef>
                <a:spcPts val="800"/>
              </a:spcBef>
              <a:defRPr sz="1100">
                <a:solidFill>
                  <a:srgbClr val="141923"/>
                </a:solidFill>
              </a:defRPr>
            </a:pPr>
            <a:r>
              <a:t>• Mở trượt mượt mà từ cạnh phải, không làm gián đoạn trải nghiệm duyệt web của người dùng.</a:t>
            </a:r>
          </a:p>
          <a:p>
            <a:pPr>
              <a:spcBef>
                <a:spcPts val="800"/>
              </a:spcBef>
              <a:defRPr sz="1100">
                <a:solidFill>
                  <a:srgbClr val="141923"/>
                </a:solidFill>
              </a:defRPr>
            </a:pPr>
            <a:r>
              <a:t>• Điều chỉnh số lượng (+ / -) và xóa sản phẩm tức thì.</a:t>
            </a:r>
          </a:p>
          <a:p>
            <a:pPr>
              <a:spcBef>
                <a:spcPts val="800"/>
              </a:spcBef>
              <a:defRPr sz="1100">
                <a:solidFill>
                  <a:srgbClr val="141923"/>
                </a:solidFill>
              </a:defRPr>
            </a:pPr>
            <a:r>
              <a:t>• Kho mã ưu đãi (Voucher Modal): Tự động kiểm tra điều kiện giá trị đơn hàng tối thiểu (Min Spend) và tính toán số tiền giảm ngay lập tức.</a:t>
            </a:r>
          </a:p>
          <a:p>
            <a:pPr>
              <a:spcBef>
                <a:spcPts val="800"/>
              </a:spcBef>
              <a:defRPr sz="1100">
                <a:solidFill>
                  <a:srgbClr val="141923"/>
                </a:solidFill>
              </a:defRPr>
            </a:pPr>
            <a:r>
              <a:t>• Cảnh báo thông minh: Đạt mốc miễn phí giao hàng hỏa tốc 2h nội thành.</a:t>
            </a:r>
          </a:p>
        </p:txBody>
      </p:sp>
      <p:sp>
        <p:nvSpPr>
          <p:cNvPr id="5" name="Rounded Rectangle 4"/>
          <p:cNvSpPr/>
          <p:nvPr/>
        </p:nvSpPr>
        <p:spPr>
          <a:xfrm>
            <a:off x="6217920" y="1645920"/>
            <a:ext cx="5120640" cy="4389120"/>
          </a:xfrm>
          <a:prstGeom prst="roundRect">
            <a:avLst/>
          </a:prstGeom>
          <a:solidFill>
            <a:srgbClr val="EAF4FA"/>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THANH TOÁN THÔNG MINH 1 CHẠM (AUTO-FILL)</a:t>
            </a:r>
          </a:p>
          <a:p>
            <a:pPr>
              <a:spcBef>
                <a:spcPts val="800"/>
              </a:spcBef>
              <a:defRPr sz="1100">
                <a:solidFill>
                  <a:srgbClr val="141923"/>
                </a:solidFill>
              </a:defRPr>
            </a:pPr>
            <a:r>
              <a:t>✔ Tự động điền 100% dữ liệu nhận hàng: Họ tên, SĐT, Email, Tỉnh/Thành phố, Quận/Huyện, Địa chỉ số nhà từ tài khoản thành viên.</a:t>
            </a:r>
          </a:p>
          <a:p>
            <a:pPr>
              <a:spcBef>
                <a:spcPts val="800"/>
              </a:spcBef>
              <a:defRPr sz="1100">
                <a:solidFill>
                  <a:srgbClr val="141923"/>
                </a:solidFill>
              </a:defRPr>
            </a:pPr>
            <a:r>
              <a:t>✔ Khóa bảo vệ SĐT (Phone Lock): SĐT nhận hàng được neo theo tài khoản chính chủ, có huy hiệu '✓ Đã xác thực'.</a:t>
            </a:r>
          </a:p>
          <a:p>
            <a:pPr>
              <a:spcBef>
                <a:spcPts val="800"/>
              </a:spcBef>
              <a:defRPr sz="1100">
                <a:solidFill>
                  <a:srgbClr val="141923"/>
                </a:solidFill>
              </a:defRPr>
            </a:pPr>
            <a:r>
              <a:t>✔ Tùy chọn phương thức nhận hàng: Giao tiêu chuẩn (Miễn phí) hoặc Giao hỏa tốc 2h (+30.000đ).</a:t>
            </a:r>
          </a:p>
          <a:p>
            <a:pPr>
              <a:spcBef>
                <a:spcPts val="800"/>
              </a:spcBef>
              <a:defRPr sz="1100">
                <a:solidFill>
                  <a:srgbClr val="141923"/>
                </a:solidFill>
              </a:defRPr>
            </a:pPr>
            <a:r>
              <a:t>✔ Lựa chọn hình thức thanh toán: Chuyển khoản VietQR ⚡ (Khuyên dùng) hoặc Tiền mặt COD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13. Demo Storefront: Xác Nhận Đơn Hàng &amp; VietQR Động</a:t>
            </a:r>
          </a:p>
        </p:txBody>
      </p:sp>
      <p:sp>
        <p:nvSpPr>
          <p:cNvPr id="3" name="Rounded Rectangle 2"/>
          <p:cNvSpPr/>
          <p:nvPr/>
        </p:nvSpPr>
        <p:spPr>
          <a:xfrm>
            <a:off x="731520" y="1645920"/>
            <a:ext cx="1069848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920240"/>
            <a:ext cx="10058400" cy="3840480"/>
          </a:xfrm>
          <a:prstGeom prst="rect">
            <a:avLst/>
          </a:prstGeom>
          <a:noFill/>
        </p:spPr>
        <p:txBody>
          <a:bodyPr wrap="square">
            <a:spAutoFit/>
          </a:bodyPr>
          <a:lstStyle/>
          <a:p>
            <a:pPr>
              <a:defRPr sz="1400" b="1">
                <a:solidFill>
                  <a:srgbClr val="0275A9"/>
                </a:solidFill>
              </a:defRPr>
            </a:pPr>
            <a:r>
              <a:t>GIAO DIỆN HOÀN TẤT ĐƠN HÀNG (#/order-success/:id)</a:t>
            </a:r>
          </a:p>
          <a:p>
            <a:pPr>
              <a:spcBef>
                <a:spcPts val="800"/>
              </a:spcBef>
              <a:defRPr sz="1200">
                <a:solidFill>
                  <a:srgbClr val="141923"/>
                </a:solidFill>
              </a:defRPr>
            </a:pPr>
            <a:r>
              <a:t>1. Thông điệp thành công trực quan: Huy hiệu Check xanh động kèm mã đơn hàng duy nhất (Ví dụ: #NET-Q8XHJ).</a:t>
            </a:r>
          </a:p>
          <a:p>
            <a:pPr>
              <a:spcBef>
                <a:spcPts val="800"/>
              </a:spcBef>
              <a:defRPr sz="1200">
                <a:solidFill>
                  <a:srgbClr val="141923"/>
                </a:solidFill>
              </a:defRPr>
            </a:pPr>
            <a:r>
              <a:t>2. Khung thanh toán VietQR động: Tự động hiển thị mã QR thanh toán chuẩn Napas 247 được sinh trực tiếp theo tài khoản ngân hàng cấu hình từ Admin.</a:t>
            </a:r>
          </a:p>
          <a:p>
            <a:pPr>
              <a:spcBef>
                <a:spcPts val="800"/>
              </a:spcBef>
              <a:defRPr sz="1200">
                <a:solidFill>
                  <a:srgbClr val="141923"/>
                </a:solidFill>
              </a:defRPr>
            </a:pPr>
            <a:r>
              <a:t>3. Thông tin ngân hàng rõ ràng: Ngân hàng Quân Đội (MBBank), Số tài khoản 0901 2345 67, Chủ tài khoản NET STORE VN, Số tiền thanh toán 284.900đ.</a:t>
            </a:r>
          </a:p>
          <a:p>
            <a:pPr>
              <a:spcBef>
                <a:spcPts val="800"/>
              </a:spcBef>
              <a:defRPr sz="1200">
                <a:solidFill>
                  <a:srgbClr val="141923"/>
                </a:solidFill>
              </a:defRPr>
            </a:pPr>
            <a:r>
              <a:t>4. Tóm tắt đơn hàng hoàn chỉnh: Hiển thị tên người nhận, số điện thoại, địa chỉ chi tiết, danh sách thiết bị và trạng thái 'Chờ thanh toán QR'.</a:t>
            </a:r>
          </a:p>
          <a:p>
            <a:pPr>
              <a:spcBef>
                <a:spcPts val="800"/>
              </a:spcBef>
              <a:defRPr sz="1200">
                <a:solidFill>
                  <a:srgbClr val="141923"/>
                </a:solidFill>
              </a:defRPr>
            </a:pPr>
            <a:r>
              <a:t>5. Tích hợp nút xem lịch sử đơn hàng: Khách hàng có thể bấm theo dõi hành trình giao nhận hàng bất kỳ lúc nào.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14. Phân Hệ Quản Trị: Dashboard, Đơn Hàng &amp; Cấu Hình Ngân Hàng</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0275A9"/>
                </a:solidFill>
              </a:defRPr>
            </a:pPr>
            <a:r>
              <a:t>DASHBOARD &amp; VÒNG ĐỜI ĐƠN HÀNG</a:t>
            </a:r>
          </a:p>
          <a:p>
            <a:pPr>
              <a:spcBef>
                <a:spcPts val="800"/>
              </a:spcBef>
              <a:defRPr sz="1100">
                <a:solidFill>
                  <a:srgbClr val="141923"/>
                </a:solidFill>
              </a:defRPr>
            </a:pPr>
            <a:r>
              <a:t>• Tổng doanh thu tích lũy: Tính toán tự động dựa trên các đơn hàng đã giao thành công.</a:t>
            </a:r>
          </a:p>
          <a:p>
            <a:pPr>
              <a:spcBef>
                <a:spcPts val="800"/>
              </a:spcBef>
              <a:defRPr sz="1100">
                <a:solidFill>
                  <a:srgbClr val="141923"/>
                </a:solidFill>
              </a:defRPr>
            </a:pPr>
            <a:r>
              <a:t>• Tổng đơn hàng tiếp nhận &amp; Phân loại trạng thái (Chờ xác nhận, Chờ QR, Đang giao, Đã giao, Đã hủy).</a:t>
            </a:r>
          </a:p>
          <a:p>
            <a:pPr>
              <a:spcBef>
                <a:spcPts val="800"/>
              </a:spcBef>
              <a:defRPr sz="1100">
                <a:solidFill>
                  <a:srgbClr val="141923"/>
                </a:solidFill>
              </a:defRPr>
            </a:pPr>
            <a:r>
              <a:t>• Nhận diện chính xác hình thức: Huy hiệu xanh VietQR ⚡ hoặc huy hiệu cam COD 💵.</a:t>
            </a:r>
          </a:p>
          <a:p>
            <a:pPr>
              <a:spcBef>
                <a:spcPts val="800"/>
              </a:spcBef>
              <a:defRPr sz="1100">
                <a:solidFill>
                  <a:srgbClr val="141923"/>
                </a:solidFill>
              </a:defRPr>
            </a:pPr>
            <a:r>
              <a:t>• Chứng nhận tài khoản: Huy hiệu xanh ngọc 'Hội viên' cạnh tên khách hàng xác minh tài khoản chính chủ.</a:t>
            </a:r>
          </a:p>
        </p:txBody>
      </p:sp>
      <p:sp>
        <p:nvSpPr>
          <p:cNvPr id="5" name="Rounded Rectangle 4"/>
          <p:cNvSpPr/>
          <p:nvPr/>
        </p:nvSpPr>
        <p:spPr>
          <a:xfrm>
            <a:off x="6217920" y="1645920"/>
            <a:ext cx="5120640" cy="4389120"/>
          </a:xfrm>
          <a:prstGeom prst="roundRect">
            <a:avLst/>
          </a:prstGeom>
          <a:solidFill>
            <a:srgbClr val="EAF4FA"/>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CẤU HÌNH TÀI KHOẢN NGÂN HÀNG VIETQR</a:t>
            </a:r>
          </a:p>
          <a:p>
            <a:pPr>
              <a:spcBef>
                <a:spcPts val="800"/>
              </a:spcBef>
              <a:defRPr sz="1100">
                <a:solidFill>
                  <a:srgbClr val="141923"/>
                </a:solidFill>
              </a:defRPr>
            </a:pPr>
            <a:r>
              <a:t>✔ Chọn Ngân hàng thụ hưởng: Dropdown hỗ trợ đầy đủ các ngân hàng (MB, VCB, TCB, VPB, ACB...).</a:t>
            </a:r>
          </a:p>
          <a:p>
            <a:pPr>
              <a:spcBef>
                <a:spcPts val="800"/>
              </a:spcBef>
              <a:defRPr sz="1100">
                <a:solidFill>
                  <a:srgbClr val="141923"/>
                </a:solidFill>
              </a:defRPr>
            </a:pPr>
            <a:r>
              <a:t>✔ Nhập Số tài khoản &amp; Tên chủ tài khoản: Tùy biến thông tin nhận tiền của chính cửa hàng.</a:t>
            </a:r>
          </a:p>
          <a:p>
            <a:pPr>
              <a:spcBef>
                <a:spcPts val="800"/>
              </a:spcBef>
              <a:defRPr sz="1100">
                <a:solidFill>
                  <a:srgbClr val="141923"/>
                </a:solidFill>
              </a:defRPr>
            </a:pPr>
            <a:r>
              <a:t>✔ Khung xem trước trực tiếp (Live Preview): Hiển thị ngay ảnh mã VietQR tương ứng để Admin kiểm tra.</a:t>
            </a:r>
          </a:p>
          <a:p>
            <a:pPr>
              <a:spcBef>
                <a:spcPts val="800"/>
              </a:spcBef>
              <a:defRPr sz="1100">
                <a:solidFill>
                  <a:srgbClr val="141923"/>
                </a:solidFill>
              </a:defRPr>
            </a:pPr>
            <a:r>
              <a:t>✔ Đồng bộ tức thì sang Client: Khách hàng mua đơn hàng mới sẽ lập tức quét mã chuyển tiền thẳng vào tài khoản này.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15. Đánh Giá Thực Trạng: Hệ Thống Dừng Ở Cấp Độ MVP / PoC</a:t>
            </a:r>
          </a:p>
        </p:txBody>
      </p:sp>
      <p:sp>
        <p:nvSpPr>
          <p:cNvPr id="3" name="Rounded Rectangle 2"/>
          <p:cNvSpPr/>
          <p:nvPr/>
        </p:nvSpPr>
        <p:spPr>
          <a:xfrm>
            <a:off x="1783080" y="1463040"/>
            <a:ext cx="3328416"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965960" y="1645920"/>
            <a:ext cx="2962656" cy="4023360"/>
          </a:xfrm>
          <a:prstGeom prst="rect">
            <a:avLst/>
          </a:prstGeom>
          <a:noFill/>
        </p:spPr>
        <p:txBody>
          <a:bodyPr wrap="square">
            <a:spAutoFit/>
          </a:bodyPr>
          <a:lstStyle/>
          <a:p>
            <a:pPr>
              <a:defRPr sz="1300" b="1">
                <a:solidFill>
                  <a:srgbClr val="10B981"/>
                </a:solidFill>
              </a:defRPr>
            </a:pPr>
            <a:r>
              <a:t>THÀNH TỰU ĐẠT ĐƯỢC</a:t>
            </a:r>
          </a:p>
          <a:p>
            <a:pPr>
              <a:spcBef>
                <a:spcPts val="800"/>
              </a:spcBef>
              <a:defRPr sz="1100">
                <a:solidFill>
                  <a:srgbClr val="141923"/>
                </a:solidFill>
              </a:defRPr>
            </a:pPr>
            <a:r>
              <a:t>✔ Hoàn thành xuất sắc mục tiêu học thuật môn học.</a:t>
            </a:r>
          </a:p>
          <a:p>
            <a:pPr>
              <a:spcBef>
                <a:spcPts val="800"/>
              </a:spcBef>
              <a:defRPr sz="1100">
                <a:solidFill>
                  <a:srgbClr val="141923"/>
                </a:solidFill>
              </a:defRPr>
            </a:pPr>
            <a:r>
              <a:t>✔ Giao diện chuẩn hóa Figma, chạy mượt mà trên React SPA.</a:t>
            </a:r>
          </a:p>
          <a:p>
            <a:pPr>
              <a:spcBef>
                <a:spcPts val="800"/>
              </a:spcBef>
              <a:defRPr sz="1100">
                <a:solidFill>
                  <a:srgbClr val="141923"/>
                </a:solidFill>
              </a:defRPr>
            </a:pPr>
            <a:r>
              <a:t>✔ Hiện thực hóa trọn vẹn 3 giải pháp nâng cao (VietQR, Anti-spam, Biến thể).</a:t>
            </a:r>
          </a:p>
          <a:p>
            <a:pPr>
              <a:spcBef>
                <a:spcPts val="800"/>
              </a:spcBef>
              <a:defRPr sz="1100">
                <a:solidFill>
                  <a:srgbClr val="141923"/>
                </a:solidFill>
              </a:defRPr>
            </a:pPr>
            <a:r>
              <a:t>✔ Vượt qua quy trình kiểm thử Triple Check Protocol (100% Pass).</a:t>
            </a:r>
          </a:p>
        </p:txBody>
      </p:sp>
      <p:sp>
        <p:nvSpPr>
          <p:cNvPr id="5" name="Rounded Rectangle 4"/>
          <p:cNvSpPr/>
          <p:nvPr/>
        </p:nvSpPr>
        <p:spPr>
          <a:xfrm>
            <a:off x="7013448" y="1463040"/>
            <a:ext cx="3328416" cy="4389120"/>
          </a:xfrm>
          <a:prstGeom prst="roundRect">
            <a:avLst/>
          </a:prstGeom>
          <a:solidFill>
            <a:srgbClr val="EAF4FA"/>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96328" y="1645920"/>
            <a:ext cx="2962656" cy="4023360"/>
          </a:xfrm>
          <a:prstGeom prst="rect">
            <a:avLst/>
          </a:prstGeom>
          <a:noFill/>
        </p:spPr>
        <p:txBody>
          <a:bodyPr wrap="square">
            <a:spAutoFit/>
          </a:bodyPr>
          <a:lstStyle/>
          <a:p>
            <a:pPr>
              <a:defRPr sz="1300" b="1">
                <a:solidFill>
                  <a:srgbClr val="0B2545"/>
                </a:solidFill>
              </a:defRPr>
            </a:pPr>
            <a:r>
              <a:rPr dirty="0"/>
              <a:t>ĐỊNH VỊ MVP / POC</a:t>
            </a:r>
          </a:p>
          <a:p>
            <a:pPr>
              <a:spcBef>
                <a:spcPts val="800"/>
              </a:spcBef>
              <a:defRPr sz="1100">
                <a:solidFill>
                  <a:srgbClr val="141923"/>
                </a:solidFill>
              </a:defRPr>
            </a:pPr>
            <a:r>
              <a:rPr dirty="0"/>
              <a:t>ℹ </a:t>
            </a:r>
            <a:r>
              <a:rPr dirty="0" err="1"/>
              <a:t>Đây</a:t>
            </a:r>
            <a:r>
              <a:rPr dirty="0"/>
              <a:t> </a:t>
            </a:r>
            <a:r>
              <a:rPr dirty="0" err="1"/>
              <a:t>là</a:t>
            </a:r>
            <a:r>
              <a:rPr dirty="0"/>
              <a:t> </a:t>
            </a:r>
            <a:r>
              <a:rPr dirty="0" err="1"/>
              <a:t>Bản</a:t>
            </a:r>
            <a:r>
              <a:rPr dirty="0"/>
              <a:t> </a:t>
            </a:r>
            <a:r>
              <a:rPr dirty="0" err="1"/>
              <a:t>thử</a:t>
            </a:r>
            <a:r>
              <a:rPr dirty="0"/>
              <a:t> </a:t>
            </a:r>
            <a:r>
              <a:rPr dirty="0" err="1"/>
              <a:t>nghiệm</a:t>
            </a:r>
            <a:r>
              <a:rPr dirty="0"/>
              <a:t> </a:t>
            </a:r>
            <a:r>
              <a:rPr dirty="0" err="1"/>
              <a:t>khả</a:t>
            </a:r>
            <a:r>
              <a:rPr dirty="0"/>
              <a:t> </a:t>
            </a:r>
            <a:r>
              <a:rPr dirty="0" err="1"/>
              <a:t>dụng</a:t>
            </a:r>
            <a:r>
              <a:rPr dirty="0"/>
              <a:t> </a:t>
            </a:r>
            <a:r>
              <a:rPr dirty="0" err="1"/>
              <a:t>tối</a:t>
            </a:r>
            <a:r>
              <a:rPr dirty="0"/>
              <a:t> </a:t>
            </a:r>
            <a:r>
              <a:rPr dirty="0" err="1"/>
              <a:t>thiểu</a:t>
            </a:r>
            <a:r>
              <a:rPr dirty="0"/>
              <a:t> (Minimum Viable Product).</a:t>
            </a:r>
          </a:p>
          <a:p>
            <a:pPr>
              <a:spcBef>
                <a:spcPts val="800"/>
              </a:spcBef>
              <a:defRPr sz="1100">
                <a:solidFill>
                  <a:srgbClr val="141923"/>
                </a:solidFill>
              </a:defRPr>
            </a:pPr>
            <a:r>
              <a:rPr dirty="0"/>
              <a:t>ℹ </a:t>
            </a:r>
            <a:r>
              <a:rPr dirty="0" err="1"/>
              <a:t>Dùng</a:t>
            </a:r>
            <a:r>
              <a:rPr dirty="0"/>
              <a:t> </a:t>
            </a:r>
            <a:r>
              <a:rPr dirty="0" err="1"/>
              <a:t>để</a:t>
            </a:r>
            <a:r>
              <a:rPr dirty="0"/>
              <a:t> </a:t>
            </a:r>
            <a:r>
              <a:rPr dirty="0" err="1"/>
              <a:t>kiểm</a:t>
            </a:r>
            <a:r>
              <a:rPr dirty="0"/>
              <a:t> </a:t>
            </a:r>
            <a:r>
              <a:rPr dirty="0" err="1"/>
              <a:t>chứng</a:t>
            </a:r>
            <a:r>
              <a:rPr dirty="0"/>
              <a:t> </a:t>
            </a:r>
            <a:r>
              <a:rPr dirty="0" err="1"/>
              <a:t>giả</a:t>
            </a:r>
            <a:r>
              <a:rPr dirty="0"/>
              <a:t> </a:t>
            </a:r>
            <a:r>
              <a:rPr dirty="0" err="1"/>
              <a:t>thuyết</a:t>
            </a:r>
            <a:r>
              <a:rPr dirty="0"/>
              <a:t> </a:t>
            </a:r>
            <a:r>
              <a:rPr dirty="0" err="1"/>
              <a:t>kỹ</a:t>
            </a:r>
            <a:r>
              <a:rPr dirty="0"/>
              <a:t> </a:t>
            </a:r>
            <a:r>
              <a:rPr dirty="0" err="1"/>
              <a:t>thuật</a:t>
            </a:r>
            <a:r>
              <a:rPr dirty="0"/>
              <a:t> </a:t>
            </a:r>
            <a:r>
              <a:rPr dirty="0" err="1"/>
              <a:t>và</a:t>
            </a:r>
            <a:r>
              <a:rPr dirty="0"/>
              <a:t> </a:t>
            </a:r>
            <a:r>
              <a:rPr dirty="0" err="1"/>
              <a:t>luồng</a:t>
            </a:r>
            <a:r>
              <a:rPr dirty="0"/>
              <a:t> </a:t>
            </a:r>
            <a:r>
              <a:rPr dirty="0" err="1"/>
              <a:t>nghiệp</a:t>
            </a:r>
            <a:r>
              <a:rPr dirty="0"/>
              <a:t> </a:t>
            </a:r>
            <a:r>
              <a:rPr dirty="0" err="1"/>
              <a:t>vụ</a:t>
            </a:r>
            <a:r>
              <a:rPr dirty="0"/>
              <a:t> </a:t>
            </a:r>
            <a:r>
              <a:rPr dirty="0" err="1"/>
              <a:t>cốt</a:t>
            </a:r>
            <a:r>
              <a:rPr dirty="0"/>
              <a:t> </a:t>
            </a:r>
            <a:r>
              <a:rPr dirty="0" err="1"/>
              <a:t>lõi</a:t>
            </a:r>
            <a:r>
              <a:rPr dirty="0"/>
              <a:t>.</a:t>
            </a:r>
          </a:p>
          <a:p>
            <a:pPr>
              <a:spcBef>
                <a:spcPts val="800"/>
              </a:spcBef>
              <a:defRPr sz="1100">
                <a:solidFill>
                  <a:srgbClr val="141923"/>
                </a:solidFill>
              </a:defRPr>
            </a:pPr>
            <a:r>
              <a:rPr dirty="0"/>
              <a:t>ℹ </a:t>
            </a:r>
            <a:r>
              <a:rPr dirty="0" err="1"/>
              <a:t>Hoạt</a:t>
            </a:r>
            <a:r>
              <a:rPr dirty="0"/>
              <a:t> </a:t>
            </a:r>
            <a:r>
              <a:rPr dirty="0" err="1"/>
              <a:t>động</a:t>
            </a:r>
            <a:r>
              <a:rPr dirty="0"/>
              <a:t> </a:t>
            </a:r>
            <a:r>
              <a:rPr dirty="0" err="1"/>
              <a:t>ổn</a:t>
            </a:r>
            <a:r>
              <a:rPr dirty="0"/>
              <a:t> </a:t>
            </a:r>
            <a:r>
              <a:rPr dirty="0" err="1"/>
              <a:t>định</a:t>
            </a:r>
            <a:r>
              <a:rPr dirty="0"/>
              <a:t> </a:t>
            </a:r>
            <a:r>
              <a:rPr dirty="0" err="1"/>
              <a:t>trong</a:t>
            </a:r>
            <a:r>
              <a:rPr dirty="0"/>
              <a:t> </a:t>
            </a:r>
            <a:r>
              <a:rPr dirty="0" err="1"/>
              <a:t>môi</a:t>
            </a:r>
            <a:r>
              <a:rPr dirty="0"/>
              <a:t> </a:t>
            </a:r>
            <a:r>
              <a:rPr dirty="0" err="1"/>
              <a:t>trường</a:t>
            </a:r>
            <a:r>
              <a:rPr dirty="0"/>
              <a:t> </a:t>
            </a:r>
            <a:r>
              <a:rPr dirty="0" err="1"/>
              <a:t>thử</a:t>
            </a:r>
            <a:r>
              <a:rPr dirty="0"/>
              <a:t> </a:t>
            </a:r>
            <a:r>
              <a:rPr dirty="0" err="1"/>
              <a:t>nghiệm</a:t>
            </a:r>
            <a:r>
              <a:rPr dirty="0"/>
              <a:t> (Local Development).</a:t>
            </a:r>
          </a:p>
          <a:p>
            <a:pPr>
              <a:spcBef>
                <a:spcPts val="800"/>
              </a:spcBef>
              <a:defRPr sz="1100">
                <a:solidFill>
                  <a:srgbClr val="141923"/>
                </a:solidFill>
              </a:defRPr>
            </a:pPr>
            <a:r>
              <a:rPr dirty="0"/>
              <a:t>ℹ </a:t>
            </a:r>
            <a:r>
              <a:rPr dirty="0" err="1"/>
              <a:t>Chưa</a:t>
            </a:r>
            <a:r>
              <a:rPr dirty="0"/>
              <a:t> </a:t>
            </a:r>
            <a:r>
              <a:rPr dirty="0" err="1"/>
              <a:t>sẵn</a:t>
            </a:r>
            <a:r>
              <a:rPr dirty="0"/>
              <a:t> </a:t>
            </a:r>
            <a:r>
              <a:rPr dirty="0" err="1"/>
              <a:t>sàng</a:t>
            </a:r>
            <a:r>
              <a:rPr dirty="0"/>
              <a:t> </a:t>
            </a:r>
            <a:r>
              <a:rPr dirty="0" err="1"/>
              <a:t>để</a:t>
            </a:r>
            <a:r>
              <a:rPr dirty="0"/>
              <a:t> </a:t>
            </a:r>
            <a:r>
              <a:rPr dirty="0" err="1"/>
              <a:t>đưa</a:t>
            </a:r>
            <a:r>
              <a:rPr dirty="0"/>
              <a:t> </a:t>
            </a:r>
            <a:r>
              <a:rPr dirty="0" err="1"/>
              <a:t>vào</a:t>
            </a:r>
            <a:r>
              <a:rPr dirty="0"/>
              <a:t> </a:t>
            </a:r>
            <a:r>
              <a:rPr dirty="0" err="1"/>
              <a:t>kinh</a:t>
            </a:r>
            <a:r>
              <a:rPr dirty="0"/>
              <a:t> </a:t>
            </a:r>
            <a:r>
              <a:rPr dirty="0" err="1"/>
              <a:t>doanh</a:t>
            </a:r>
            <a:r>
              <a:rPr dirty="0"/>
              <a:t> </a:t>
            </a:r>
            <a:r>
              <a:rPr dirty="0" err="1"/>
              <a:t>thương</a:t>
            </a:r>
            <a:r>
              <a:rPr dirty="0"/>
              <a:t> </a:t>
            </a:r>
            <a:r>
              <a:rPr dirty="0" err="1"/>
              <a:t>mại</a:t>
            </a:r>
            <a:r>
              <a:rPr dirty="0"/>
              <a:t> </a:t>
            </a:r>
            <a:r>
              <a:rPr dirty="0" err="1"/>
              <a:t>ngoài</a:t>
            </a:r>
            <a:r>
              <a:rPr dirty="0"/>
              <a:t> </a:t>
            </a:r>
            <a:r>
              <a:rPr dirty="0" err="1"/>
              <a:t>đời</a:t>
            </a:r>
            <a:r>
              <a:rPr dirty="0"/>
              <a:t> </a:t>
            </a:r>
            <a:r>
              <a:rPr dirty="0" err="1"/>
              <a:t>thực</a:t>
            </a:r>
            <a:r>
              <a:rPr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698480" cy="1005840"/>
          </a:xfrm>
          <a:prstGeom prst="rect">
            <a:avLst/>
          </a:prstGeom>
          <a:noFill/>
        </p:spPr>
        <p:txBody>
          <a:bodyPr wrap="square" lIns="0" tIns="0" rIns="0" bIns="0">
            <a:spAutoFit/>
          </a:bodyPr>
          <a:lstStyle/>
          <a:p>
            <a:pPr>
              <a:defRPr sz="1000" b="1">
                <a:solidFill>
                  <a:srgbClr val="0275A9"/>
                </a:solidFill>
              </a:defRPr>
            </a:pPr>
            <a:r>
              <a:t>HỌC PHẦN: CÁC CHỦ ĐỀ NÂNG CAO VỀ HỆ THỐNG KINH DOANH ĐIỆN TỬ</a:t>
            </a:r>
          </a:p>
          <a:p>
            <a:pPr>
              <a:spcBef>
                <a:spcPts val="400"/>
              </a:spcBef>
              <a:defRPr sz="2200" b="1">
                <a:solidFill>
                  <a:srgbClr val="141923"/>
                </a:solidFill>
              </a:defRPr>
            </a:pPr>
            <a:r>
              <a:t>16. 5 Khoảng Cách Lớn Đến Môi Trường Production &amp; Hướng Đi</a:t>
            </a:r>
          </a:p>
        </p:txBody>
      </p:sp>
      <p:sp>
        <p:nvSpPr>
          <p:cNvPr id="3" name="Rounded Rectangle 2"/>
          <p:cNvSpPr/>
          <p:nvPr/>
        </p:nvSpPr>
        <p:spPr>
          <a:xfrm>
            <a:off x="731520" y="1645920"/>
            <a:ext cx="5120640" cy="4389120"/>
          </a:xfrm>
          <a:prstGeom prst="roundRect">
            <a:avLst/>
          </a:prstGeom>
          <a:solidFill>
            <a:srgbClr val="F8FAFC"/>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4572000" cy="4023360"/>
          </a:xfrm>
          <a:prstGeom prst="rect">
            <a:avLst/>
          </a:prstGeom>
          <a:noFill/>
        </p:spPr>
        <p:txBody>
          <a:bodyPr wrap="square">
            <a:spAutoFit/>
          </a:bodyPr>
          <a:lstStyle/>
          <a:p>
            <a:pPr>
              <a:defRPr sz="1300" b="1">
                <a:solidFill>
                  <a:srgbClr val="DC2626"/>
                </a:solidFill>
              </a:defRPr>
            </a:pPr>
            <a:r>
              <a:t>5 RÀO CẢN CẦN PHÁT TRIỂN THÊM</a:t>
            </a:r>
          </a:p>
          <a:p>
            <a:pPr>
              <a:spcBef>
                <a:spcPts val="600"/>
              </a:spcBef>
              <a:defRPr sz="1050">
                <a:solidFill>
                  <a:srgbClr val="141923"/>
                </a:solidFill>
              </a:defRPr>
            </a:pPr>
            <a:r>
              <a:t>1. Khớp tiền ngân hàng: Chưa có Webhook tự động, Admin vẫn phải đối chiếu sao kê và duyệt tay.</a:t>
            </a:r>
          </a:p>
          <a:p>
            <a:pPr>
              <a:spcBef>
                <a:spcPts val="600"/>
              </a:spcBef>
              <a:defRPr sz="1050">
                <a:solidFill>
                  <a:srgbClr val="141923"/>
                </a:solidFill>
              </a:defRPr>
            </a:pPr>
            <a:r>
              <a:t>2. Xác thực danh tính: SĐT lưu nội bộ trong SQLite, chưa gửi tin nhắn SMS OTP nhà mạng.</a:t>
            </a:r>
          </a:p>
          <a:p>
            <a:pPr>
              <a:spcBef>
                <a:spcPts val="600"/>
              </a:spcBef>
              <a:defRPr sz="1050">
                <a:solidFill>
                  <a:srgbClr val="141923"/>
                </a:solidFill>
              </a:defRPr>
            </a:pPr>
            <a:r>
              <a:t>3. Bảo mật chuyên sâu: Chưa mã hóa mật khẩu bằng scrypt/bcrypt, chưa có JWT refresh token và HTTPS.</a:t>
            </a:r>
          </a:p>
          <a:p>
            <a:pPr>
              <a:spcBef>
                <a:spcPts val="600"/>
              </a:spcBef>
              <a:defRPr sz="1050">
                <a:solidFill>
                  <a:srgbClr val="141923"/>
                </a:solidFill>
              </a:defRPr>
            </a:pPr>
            <a:r>
              <a:t>4. Cơ sở dữ liệu: SQLite nhúng cục bộ chưa chịu tải được hàng chục nghìn người cùng truy cập.</a:t>
            </a:r>
          </a:p>
          <a:p>
            <a:pPr>
              <a:spcBef>
                <a:spcPts val="600"/>
              </a:spcBef>
              <a:defRPr sz="1050">
                <a:solidFill>
                  <a:srgbClr val="141923"/>
                </a:solidFill>
              </a:defRPr>
            </a:pPr>
            <a:r>
              <a:t>5. Logistics: Chưa kết nối API đơn vị vận chuyển (GHTK, GHN) để tự động xuất mã bưu kiện.</a:t>
            </a:r>
          </a:p>
        </p:txBody>
      </p:sp>
      <p:sp>
        <p:nvSpPr>
          <p:cNvPr id="5" name="Rounded Rectangle 4"/>
          <p:cNvSpPr/>
          <p:nvPr/>
        </p:nvSpPr>
        <p:spPr>
          <a:xfrm>
            <a:off x="6217920" y="1645920"/>
            <a:ext cx="5120640" cy="4389120"/>
          </a:xfrm>
          <a:prstGeom prst="roundRect">
            <a:avLst/>
          </a:prstGeom>
          <a:solidFill>
            <a:srgbClr val="EAF4FA"/>
          </a:solidFill>
          <a:ln w="12700">
            <a:solidFill>
              <a:srgbClr val="E5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828800"/>
            <a:ext cx="4572000" cy="4023360"/>
          </a:xfrm>
          <a:prstGeom prst="rect">
            <a:avLst/>
          </a:prstGeom>
          <a:noFill/>
        </p:spPr>
        <p:txBody>
          <a:bodyPr wrap="square">
            <a:spAutoFit/>
          </a:bodyPr>
          <a:lstStyle/>
          <a:p>
            <a:pPr>
              <a:defRPr sz="1300" b="1">
                <a:solidFill>
                  <a:srgbClr val="0275A9"/>
                </a:solidFill>
              </a:defRPr>
            </a:pPr>
            <a:r>
              <a:t>LỘ TRÌNH NÂNG CẤP TIẾP THEO</a:t>
            </a:r>
          </a:p>
          <a:p>
            <a:pPr>
              <a:spcBef>
                <a:spcPts val="800"/>
              </a:spcBef>
              <a:defRPr sz="1100">
                <a:solidFill>
                  <a:srgbClr val="141923"/>
                </a:solidFill>
              </a:defRPr>
            </a:pPr>
            <a:r>
              <a:t>➔ Giai đoạn 1: Đăng ký Open Banking API (Casso/VietQR PayOS) tự động duyệt đơn hàng sau 1 giây.</a:t>
            </a:r>
          </a:p>
          <a:p>
            <a:pPr>
              <a:spcBef>
                <a:spcPts val="800"/>
              </a:spcBef>
              <a:defRPr sz="1100">
                <a:solidFill>
                  <a:srgbClr val="141923"/>
                </a:solidFill>
              </a:defRPr>
            </a:pPr>
            <a:r>
              <a:t>➔ Giai đoạn 2: Tích hợp dịch vụ SMS OTP và đăng nhập một chạm qua Google Account / Zalo ID.</a:t>
            </a:r>
          </a:p>
          <a:p>
            <a:pPr>
              <a:spcBef>
                <a:spcPts val="800"/>
              </a:spcBef>
              <a:defRPr sz="1100">
                <a:solidFill>
                  <a:srgbClr val="141923"/>
                </a:solidFill>
              </a:defRPr>
            </a:pPr>
            <a:r>
              <a:t>➔ Giai đoạn 3: Nâng cấp CSDL sang PostgreSQL, lưu đệm Redis, đóng gói Docker và triển khai Cloud.</a:t>
            </a:r>
          </a:p>
          <a:p>
            <a:pPr>
              <a:spcBef>
                <a:spcPts val="800"/>
              </a:spcBef>
              <a:defRPr sz="1100">
                <a:solidFill>
                  <a:srgbClr val="141923"/>
                </a:solidFill>
              </a:defRPr>
            </a:pPr>
            <a:r>
              <a:t>➔ Giai đoạn 4: Tích hợp API bưu chính giao nhận hàng và phát triển thuật toán AI Recommendation.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645920"/>
            <a:ext cx="9418320" cy="3657600"/>
          </a:xfrm>
          <a:prstGeom prst="rect">
            <a:avLst/>
          </a:prstGeom>
          <a:noFill/>
        </p:spPr>
        <p:txBody>
          <a:bodyPr wrap="square">
            <a:spAutoFit/>
          </a:bodyPr>
          <a:lstStyle/>
          <a:p>
            <a:pPr algn="ctr">
              <a:defRPr sz="3600" b="1">
                <a:solidFill>
                  <a:srgbClr val="00C8FF"/>
                </a:solidFill>
              </a:defRPr>
            </a:pPr>
            <a:r>
              <a:t>XIN CHÂN THÀNH CẢM ƠN</a:t>
            </a:r>
          </a:p>
          <a:p>
            <a:pPr algn="ctr">
              <a:spcBef>
                <a:spcPts val="1600"/>
              </a:spcBef>
              <a:defRPr sz="2000" b="1">
                <a:solidFill>
                  <a:srgbClr val="FFFFFF"/>
                </a:solidFill>
              </a:defRPr>
            </a:pPr>
            <a:r>
              <a:t>QUÝ THẦY CÔ VÀ HỘI ĐỒNG ĐÃ LẮNG NGHE BÀI THUYẾT TRÌNH!</a:t>
            </a:r>
          </a:p>
          <a:p>
            <a:pPr algn="ctr">
              <a:spcBef>
                <a:spcPts val="2400"/>
              </a:spcBef>
              <a:defRPr sz="1600" i="1">
                <a:solidFill>
                  <a:srgbClr val="B4D2F0"/>
                </a:solidFill>
              </a:defRPr>
            </a:pPr>
            <a:r>
              <a:t>RẤT MONG NHẬN ĐƯỢC NHỮNG CÂU HỎI VÀ ĐÓNG GÓP Ý KIẾN TỪ HỘI ĐỒNG</a:t>
            </a:r>
            <a:br/>
            <a:b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84A8F41-64B4-4D59-80C5-3CF48405EF3C}">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TotalTime>
  <Words>3937</Words>
  <Application>Microsoft Office PowerPoint</Application>
  <PresentationFormat>Widescreen</PresentationFormat>
  <Paragraphs>225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Hậu Nguyễn</cp:lastModifiedBy>
  <cp:revision>3</cp:revision>
  <dcterms:created xsi:type="dcterms:W3CDTF">2013-01-27T09:14:16Z</dcterms:created>
  <dcterms:modified xsi:type="dcterms:W3CDTF">2026-10-30T14:53:49Z</dcterms:modified>
  <cp:category/>
</cp:coreProperties>
</file>